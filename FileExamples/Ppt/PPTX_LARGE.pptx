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 id="2147483708"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85687" autoAdjust="0"/>
  </p:normalViewPr>
  <p:slideViewPr>
    <p:cSldViewPr snapToGrid="0">
      <p:cViewPr varScale="1">
        <p:scale>
          <a:sx n="76" d="100"/>
          <a:sy n="76" d="100"/>
        </p:scale>
        <p:origin x="1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1265138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QuickStarter has created an outline to help you get started on your presentation. Some slides include information here in the notes to provide additional topics for you to research.</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1265138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Scientific research</a:t>
            </a:r>
          </a:p>
          <a:p>
            <a:pPr marL="171450" indent="-171450">
              <a:buFont typeface="Arial" panose="020B0604020202020204" pitchFamily="34" charset="0"/>
              <a:buChar char="•"/>
            </a:pPr>
            <a:r>
              <a:rPr lang="en-US" dirty="0"/>
              <a:t>Exploration</a:t>
            </a:r>
          </a:p>
          <a:p>
            <a:pPr marL="171450" indent="-171450">
              <a:buFont typeface="Arial" panose="020B0604020202020204" pitchFamily="34" charset="0"/>
              <a:buChar char="•"/>
            </a:pPr>
            <a:r>
              <a:rPr lang="en-US" dirty="0"/>
              <a:t>Education and cultural outreach</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14970227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Pressurised modules</a:t>
            </a:r>
          </a:p>
          <a:p>
            <a:pPr marL="171450" indent="-171450">
              <a:buFont typeface="Arial" panose="020B0604020202020204" pitchFamily="34" charset="0"/>
              <a:buChar char="•"/>
            </a:pPr>
            <a:r>
              <a:rPr lang="en-US" dirty="0"/>
              <a:t>Unpressurised elements</a:t>
            </a:r>
          </a:p>
          <a:p>
            <a:pPr marL="171450" indent="-171450">
              <a:buFont typeface="Arial" panose="020B0604020202020204" pitchFamily="34" charset="0"/>
              <a:buChar char="•"/>
            </a:pPr>
            <a:r>
              <a:rPr lang="en-US" dirty="0"/>
              <a:t>Planned componments</a:t>
            </a:r>
          </a:p>
          <a:p>
            <a:pPr marL="171450" indent="-171450">
              <a:buFont typeface="Arial" panose="020B0604020202020204" pitchFamily="34" charset="0"/>
              <a:buChar char="•"/>
            </a:pPr>
            <a:r>
              <a:rPr lang="en-US" dirty="0"/>
              <a:t>Cancelled components</a:t>
            </a:r>
          </a:p>
        </p:txBody>
      </p:sp>
      <p:sp>
        <p:nvSpPr>
          <p:cNvPr id="4" name="Slide Number Placeholder 3"/>
          <p:cNvSpPr>
            <a:spLocks noGrp="1"/>
          </p:cNvSpPr>
          <p:nvPr>
            <p:ph type="sldNum" sz="quarter" idx="10"/>
          </p:nvPr>
        </p:nvSpPr>
        <p:spPr/>
        <p:txBody>
          <a:bodyPr/>
          <a:lstStyle/>
          <a:p>
            <a:fld id="{E0746DE6-3336-457D-A091-FA20AC1C536E}" type="slidenum">
              <a:rPr lang="en-US" smtClean="0"/>
              <a:t>8</a:t>
            </a:fld>
            <a:endParaRPr lang="en-US"/>
          </a:p>
        </p:txBody>
      </p:sp>
    </p:spTree>
    <p:extLst>
      <p:ext uri="{BB962C8B-B14F-4D97-AF65-F5344CB8AC3E}">
        <p14:creationId xmlns:p14="http://schemas.microsoft.com/office/powerpoint/2010/main" val="187851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Life support</a:t>
            </a:r>
          </a:p>
          <a:p>
            <a:pPr marL="171450" indent="-171450">
              <a:buFont typeface="Arial" panose="020B0604020202020204" pitchFamily="34" charset="0"/>
              <a:buChar char="•"/>
            </a:pPr>
            <a:r>
              <a:rPr lang="en-US" dirty="0"/>
              <a:t>Power and thermal control</a:t>
            </a:r>
          </a:p>
          <a:p>
            <a:pPr marL="171450" indent="-171450">
              <a:buFont typeface="Arial" panose="020B0604020202020204" pitchFamily="34" charset="0"/>
              <a:buChar char="•"/>
            </a:pPr>
            <a:r>
              <a:rPr lang="en-US" dirty="0"/>
              <a:t>Communications and computers</a:t>
            </a:r>
          </a:p>
        </p:txBody>
      </p:sp>
      <p:sp>
        <p:nvSpPr>
          <p:cNvPr id="4" name="Slide Number Placeholder 3"/>
          <p:cNvSpPr>
            <a:spLocks noGrp="1"/>
          </p:cNvSpPr>
          <p:nvPr>
            <p:ph type="sldNum" sz="quarter" idx="10"/>
          </p:nvPr>
        </p:nvSpPr>
        <p:spPr/>
        <p:txBody>
          <a:bodyPr/>
          <a:lstStyle/>
          <a:p>
            <a:fld id="{E0746DE6-3336-457D-A091-FA20AC1C536E}" type="slidenum">
              <a:rPr lang="en-US" smtClean="0"/>
              <a:t>9</a:t>
            </a:fld>
            <a:endParaRPr lang="en-US"/>
          </a:p>
        </p:txBody>
      </p:sp>
    </p:spTree>
    <p:extLst>
      <p:ext uri="{BB962C8B-B14F-4D97-AF65-F5344CB8AC3E}">
        <p14:creationId xmlns:p14="http://schemas.microsoft.com/office/powerpoint/2010/main" val="958379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Expeditions and private flights</a:t>
            </a:r>
          </a:p>
          <a:p>
            <a:pPr marL="171450" indent="-171450">
              <a:buFont typeface="Arial" panose="020B0604020202020204" pitchFamily="34" charset="0"/>
              <a:buChar char="•"/>
            </a:pPr>
            <a:r>
              <a:rPr lang="en-US" dirty="0"/>
              <a:t>Orbit</a:t>
            </a:r>
          </a:p>
        </p:txBody>
      </p:sp>
      <p:sp>
        <p:nvSpPr>
          <p:cNvPr id="4" name="Slide Number Placeholder 3"/>
          <p:cNvSpPr>
            <a:spLocks noGrp="1"/>
          </p:cNvSpPr>
          <p:nvPr>
            <p:ph type="sldNum" sz="quarter" idx="10"/>
          </p:nvPr>
        </p:nvSpPr>
        <p:spPr/>
        <p:txBody>
          <a:bodyPr/>
          <a:lstStyle/>
          <a:p>
            <a:fld id="{E0746DE6-3336-457D-A091-FA20AC1C536E}" type="slidenum">
              <a:rPr lang="en-US" smtClean="0"/>
              <a:t>10</a:t>
            </a:fld>
            <a:endParaRPr lang="en-US"/>
          </a:p>
        </p:txBody>
      </p:sp>
    </p:spTree>
    <p:extLst>
      <p:ext uri="{BB962C8B-B14F-4D97-AF65-F5344CB8AC3E}">
        <p14:creationId xmlns:p14="http://schemas.microsoft.com/office/powerpoint/2010/main" val="13775351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Repairs</a:t>
            </a:r>
          </a:p>
        </p:txBody>
      </p:sp>
      <p:sp>
        <p:nvSpPr>
          <p:cNvPr id="4" name="Slide Number Placeholder 3"/>
          <p:cNvSpPr>
            <a:spLocks noGrp="1"/>
          </p:cNvSpPr>
          <p:nvPr>
            <p:ph type="sldNum" sz="quarter" idx="10"/>
          </p:nvPr>
        </p:nvSpPr>
        <p:spPr/>
        <p:txBody>
          <a:bodyPr/>
          <a:lstStyle/>
          <a:p>
            <a:fld id="{E0746DE6-3336-457D-A091-FA20AC1C536E}" type="slidenum">
              <a:rPr lang="en-US" smtClean="0"/>
              <a:t>11</a:t>
            </a:fld>
            <a:endParaRPr lang="en-US"/>
          </a:p>
        </p:txBody>
      </p:sp>
    </p:spTree>
    <p:extLst>
      <p:ext uri="{BB962C8B-B14F-4D97-AF65-F5344CB8AC3E}">
        <p14:creationId xmlns:p14="http://schemas.microsoft.com/office/powerpoint/2010/main" val="579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Currently docked/berthed</a:t>
            </a:r>
          </a:p>
          <a:p>
            <a:pPr marL="171450" indent="-171450">
              <a:buFont typeface="Arial" panose="020B0604020202020204" pitchFamily="34" charset="0"/>
              <a:buChar char="•"/>
            </a:pPr>
            <a:r>
              <a:rPr lang="en-US" dirty="0"/>
              <a:t>Scheduled missions</a:t>
            </a:r>
          </a:p>
          <a:p>
            <a:pPr marL="171450" indent="-171450">
              <a:buFont typeface="Arial" panose="020B0604020202020204" pitchFamily="34" charset="0"/>
              <a:buChar char="•"/>
            </a:pPr>
            <a:r>
              <a:rPr lang="en-US" dirty="0"/>
              <a:t>Docking</a:t>
            </a:r>
          </a:p>
          <a:p>
            <a:pPr marL="171450" indent="-171450">
              <a:buFont typeface="Arial" panose="020B0604020202020204" pitchFamily="34" charset="0"/>
              <a:buChar char="•"/>
            </a:pPr>
            <a:r>
              <a:rPr lang="en-US" dirty="0"/>
              <a:t>Launch and docking windows</a:t>
            </a:r>
          </a:p>
        </p:txBody>
      </p:sp>
      <p:sp>
        <p:nvSpPr>
          <p:cNvPr id="4" name="Slide Number Placeholder 3"/>
          <p:cNvSpPr>
            <a:spLocks noGrp="1"/>
          </p:cNvSpPr>
          <p:nvPr>
            <p:ph type="sldNum" sz="quarter" idx="10"/>
          </p:nvPr>
        </p:nvSpPr>
        <p:spPr/>
        <p:txBody>
          <a:bodyPr/>
          <a:lstStyle/>
          <a:p>
            <a:fld id="{E0746DE6-3336-457D-A091-FA20AC1C536E}" type="slidenum">
              <a:rPr lang="en-US" smtClean="0"/>
              <a:t>12</a:t>
            </a:fld>
            <a:endParaRPr lang="en-US"/>
          </a:p>
        </p:txBody>
      </p:sp>
    </p:spTree>
    <p:extLst>
      <p:ext uri="{BB962C8B-B14F-4D97-AF65-F5344CB8AC3E}">
        <p14:creationId xmlns:p14="http://schemas.microsoft.com/office/powerpoint/2010/main" val="1796691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Crew activities</a:t>
            </a:r>
          </a:p>
          <a:p>
            <a:pPr marL="171450" indent="-171450">
              <a:buFont typeface="Arial" panose="020B0604020202020204" pitchFamily="34" charset="0"/>
              <a:buChar char="•"/>
            </a:pPr>
            <a:r>
              <a:rPr lang="en-US" dirty="0"/>
              <a:t>Food</a:t>
            </a:r>
          </a:p>
          <a:p>
            <a:pPr marL="171450" indent="-171450">
              <a:buFont typeface="Arial" panose="020B0604020202020204" pitchFamily="34" charset="0"/>
              <a:buChar char="•"/>
            </a:pPr>
            <a:r>
              <a:rPr lang="en-US" dirty="0"/>
              <a:t>Hygiene</a:t>
            </a:r>
          </a:p>
        </p:txBody>
      </p:sp>
      <p:sp>
        <p:nvSpPr>
          <p:cNvPr id="4" name="Slide Number Placeholder 3"/>
          <p:cNvSpPr>
            <a:spLocks noGrp="1"/>
          </p:cNvSpPr>
          <p:nvPr>
            <p:ph type="sldNum" sz="quarter" idx="10"/>
          </p:nvPr>
        </p:nvSpPr>
        <p:spPr/>
        <p:txBody>
          <a:bodyPr/>
          <a:lstStyle/>
          <a:p>
            <a:fld id="{E0746DE6-3336-457D-A091-FA20AC1C536E}" type="slidenum">
              <a:rPr lang="en-US" smtClean="0"/>
              <a:t>13</a:t>
            </a:fld>
            <a:endParaRPr lang="en-US"/>
          </a:p>
        </p:txBody>
      </p:sp>
    </p:spTree>
    <p:extLst>
      <p:ext uri="{BB962C8B-B14F-4D97-AF65-F5344CB8AC3E}">
        <p14:creationId xmlns:p14="http://schemas.microsoft.com/office/powerpoint/2010/main" val="68363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Overall</a:t>
            </a:r>
          </a:p>
          <a:p>
            <a:pPr marL="171450" indent="-171450">
              <a:buFont typeface="Arial" panose="020B0604020202020204" pitchFamily="34" charset="0"/>
              <a:buChar char="•"/>
            </a:pPr>
            <a:r>
              <a:rPr lang="en-US" dirty="0"/>
              <a:t>Radiation</a:t>
            </a:r>
          </a:p>
          <a:p>
            <a:pPr marL="171450" indent="-171450">
              <a:buFont typeface="Arial" panose="020B0604020202020204" pitchFamily="34" charset="0"/>
              <a:buChar char="•"/>
            </a:pPr>
            <a:r>
              <a:rPr lang="en-US" dirty="0"/>
              <a:t>Stress</a:t>
            </a:r>
          </a:p>
          <a:p>
            <a:pPr marL="171450" indent="-171450">
              <a:buFont typeface="Arial" panose="020B0604020202020204" pitchFamily="34" charset="0"/>
              <a:buChar char="•"/>
            </a:pPr>
            <a:r>
              <a:rPr lang="en-US" dirty="0"/>
              <a:t>Medical</a:t>
            </a:r>
          </a:p>
          <a:p>
            <a:pPr marL="171450" indent="-171450">
              <a:buFont typeface="Arial" panose="020B0604020202020204" pitchFamily="34" charset="0"/>
              <a:buChar char="•"/>
            </a:pPr>
            <a:r>
              <a:rPr lang="en-US" dirty="0"/>
              <a:t>Microbiological environmental hazards</a:t>
            </a:r>
          </a:p>
          <a:p>
            <a:pPr marL="171450" indent="-171450">
              <a:buFont typeface="Arial" panose="020B0604020202020204" pitchFamily="34" charset="0"/>
              <a:buChar char="•"/>
            </a:pPr>
            <a:r>
              <a:rPr lang="en-US" dirty="0"/>
              <a:t>Fire and toxic gases</a:t>
            </a:r>
          </a:p>
        </p:txBody>
      </p:sp>
      <p:sp>
        <p:nvSpPr>
          <p:cNvPr id="4" name="Slide Number Placeholder 3"/>
          <p:cNvSpPr>
            <a:spLocks noGrp="1"/>
          </p:cNvSpPr>
          <p:nvPr>
            <p:ph type="sldNum" sz="quarter" idx="10"/>
          </p:nvPr>
        </p:nvSpPr>
        <p:spPr/>
        <p:txBody>
          <a:bodyPr/>
          <a:lstStyle/>
          <a:p>
            <a:fld id="{E0746DE6-3336-457D-A091-FA20AC1C536E}" type="slidenum">
              <a:rPr lang="en-US" smtClean="0"/>
              <a:t>14</a:t>
            </a:fld>
            <a:endParaRPr lang="en-US"/>
          </a:p>
        </p:txBody>
      </p:sp>
    </p:spTree>
    <p:extLst>
      <p:ext uri="{BB962C8B-B14F-4D97-AF65-F5344CB8AC3E}">
        <p14:creationId xmlns:p14="http://schemas.microsoft.com/office/powerpoint/2010/main" val="1609419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talking about:</a:t>
            </a:r>
          </a:p>
          <a:p>
            <a:pPr marL="171450" indent="-171450">
              <a:buFont typeface="Arial" panose="020B0604020202020204" pitchFamily="34" charset="0"/>
              <a:buChar char="•"/>
            </a:pPr>
            <a:r>
              <a:rPr lang="en-US" dirty="0"/>
              <a:t>Naked-eye visibility</a:t>
            </a:r>
          </a:p>
          <a:p>
            <a:pPr marL="171450" indent="-171450">
              <a:buFont typeface="Arial" panose="020B0604020202020204" pitchFamily="34" charset="0"/>
              <a:buChar char="•"/>
            </a:pPr>
            <a:r>
              <a:rPr lang="en-US" dirty="0"/>
              <a:t>Astrophotography</a:t>
            </a:r>
          </a:p>
        </p:txBody>
      </p:sp>
      <p:sp>
        <p:nvSpPr>
          <p:cNvPr id="4" name="Slide Number Placeholder 3"/>
          <p:cNvSpPr>
            <a:spLocks noGrp="1"/>
          </p:cNvSpPr>
          <p:nvPr>
            <p:ph type="sldNum" sz="quarter" idx="10"/>
          </p:nvPr>
        </p:nvSpPr>
        <p:spPr/>
        <p:txBody>
          <a:bodyPr/>
          <a:lstStyle/>
          <a:p>
            <a:fld id="{E0746DE6-3336-457D-A091-FA20AC1C536E}" type="slidenum">
              <a:rPr lang="en-US" smtClean="0"/>
              <a:t>18</a:t>
            </a:fld>
            <a:endParaRPr lang="en-US"/>
          </a:p>
        </p:txBody>
      </p:sp>
    </p:spTree>
    <p:extLst>
      <p:ext uri="{BB962C8B-B14F-4D97-AF65-F5344CB8AC3E}">
        <p14:creationId xmlns:p14="http://schemas.microsoft.com/office/powerpoint/2010/main" val="10707757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2/2/21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52695823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2/2/21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946809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extLst>
      <p:ext uri="{BB962C8B-B14F-4D97-AF65-F5344CB8AC3E}">
        <p14:creationId xmlns:p14="http://schemas.microsoft.com/office/powerpoint/2010/main" val="195761517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2/2/21</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008465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2/2/21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90006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2/2/21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044763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2/2/21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812714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2/2/21</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795084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2/2/21</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1716925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813564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2/2/21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extLst>
      <p:ext uri="{BB962C8B-B14F-4D97-AF65-F5344CB8AC3E}">
        <p14:creationId xmlns:p14="http://schemas.microsoft.com/office/powerpoint/2010/main" val="2125801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4260" y="462455"/>
            <a:ext cx="10515600" cy="822263"/>
          </a:xfrm>
        </p:spPr>
        <p:txBody>
          <a:bodyPr>
            <a:normAutofit/>
          </a:bodyPr>
          <a:lstStyle>
            <a:lvl1pPr>
              <a:defRPr sz="3600">
                <a:solidFill>
                  <a:srgbClr val="D24726"/>
                </a:solidFill>
                <a:latin typeface="Segoe UI Light" panose="020B0502040204020203" pitchFamily="34" charset="0"/>
                <a:cs typeface="Segoe UI Light"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838200" y="1625936"/>
            <a:ext cx="10515600" cy="4351338"/>
          </a:xfrm>
        </p:spPr>
        <p:txBody>
          <a:bodyPr/>
          <a:lstStyle>
            <a:lvl1pPr>
              <a:defRPr sz="1400" baseline="0">
                <a:solidFill>
                  <a:srgbClr val="595959"/>
                </a:solidFill>
                <a:latin typeface="Segoe UI Semilight" panose="020B0402040204020203" pitchFamily="34" charset="0"/>
                <a:cs typeface="Segoe UI Semilight" panose="020B0402040204020203" pitchFamily="34" charset="0"/>
              </a:defRPr>
            </a:lvl1pPr>
            <a:lvl2pPr>
              <a:defRPr sz="1200" baseline="0">
                <a:solidFill>
                  <a:srgbClr val="595959"/>
                </a:solidFill>
                <a:latin typeface="Segoe UI Semilight" panose="020B0402040204020203" pitchFamily="34" charset="0"/>
                <a:cs typeface="Segoe UI Semilight" panose="020B0402040204020203" pitchFamily="34" charset="0"/>
              </a:defRPr>
            </a:lvl2pPr>
            <a:lvl3pPr>
              <a:defRPr sz="1200" baseline="0">
                <a:solidFill>
                  <a:srgbClr val="595959"/>
                </a:solidFill>
                <a:latin typeface="Segoe UI Semilight" panose="020B0402040204020203" pitchFamily="34" charset="0"/>
                <a:cs typeface="Segoe UI Semilight" panose="020B0402040204020203" pitchFamily="34" charset="0"/>
              </a:defRPr>
            </a:lvl3pPr>
            <a:lvl4pPr>
              <a:defRPr sz="1200" baseline="0">
                <a:solidFill>
                  <a:srgbClr val="595959"/>
                </a:solidFill>
                <a:latin typeface="Segoe UI Semilight" panose="020B0402040204020203" pitchFamily="34" charset="0"/>
                <a:cs typeface="Segoe UI Semilight" panose="020B0402040204020203" pitchFamily="34" charset="0"/>
              </a:defRPr>
            </a:lvl4pPr>
            <a:lvl5pPr>
              <a:defRPr sz="1200" baseline="0">
                <a:solidFill>
                  <a:srgbClr val="595959"/>
                </a:solidFill>
                <a:latin typeface="Segoe UI Semilight" panose="020B0402040204020203" pitchFamily="34" charset="0"/>
                <a:cs typeface="Segoe UI Semilight" panose="020B04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652CD92-9D15-43B4-8516-073FCDAC90D4}" type="datetimeFigureOut">
              <a:rPr lang="en-US" smtClean="0"/>
              <a:t>2/2/21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5E1560-7126-406C-A531-3A398E8D0EEA}" type="slidenum">
              <a:rPr lang="en-US" smtClean="0"/>
              <a:t>‹#›</a:t>
            </a:fld>
            <a:endParaRPr lang="en-US"/>
          </a:p>
        </p:txBody>
      </p:sp>
      <p:cxnSp>
        <p:nvCxnSpPr>
          <p:cNvPr id="7" name="Straight Connector 6"/>
          <p:cNvCxnSpPr/>
          <p:nvPr userDrawn="1"/>
        </p:nvCxnSpPr>
        <p:spPr>
          <a:xfrm>
            <a:off x="952500" y="1284718"/>
            <a:ext cx="103632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5525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2/2/21</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extLst>
      <p:ext uri="{BB962C8B-B14F-4D97-AF65-F5344CB8AC3E}">
        <p14:creationId xmlns:p14="http://schemas.microsoft.com/office/powerpoint/2010/main" val="202485471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52CD92-9D15-43B4-8516-073FCDAC90D4}" type="datetimeFigureOut">
              <a:rPr lang="en-US" smtClean="0"/>
              <a:t>2/2/21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E1560-7126-406C-A531-3A398E8D0EEA}" type="slidenum">
              <a:rPr lang="en-US" smtClean="0"/>
              <a:t>‹#›</a:t>
            </a:fld>
            <a:endParaRPr lang="en-US"/>
          </a:p>
        </p:txBody>
      </p:sp>
    </p:spTree>
    <p:extLst>
      <p:ext uri="{BB962C8B-B14F-4D97-AF65-F5344CB8AC3E}">
        <p14:creationId xmlns:p14="http://schemas.microsoft.com/office/powerpoint/2010/main" val="3184122265"/>
      </p:ext>
    </p:extLst>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en.wikipedia.org/wiki/International_Space_Station"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creativecommons.org/licenses/by-sa/3.0/"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commons.wikimedia.org/wiki/File:STS-133_International_Space_Station_after_undocking_5.jpg" TargetMode="External"/><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commons.wikimedia.org/wiki/File:STS-134_EVA4_view_to_the_Space_Shuttle_Endeavour.jp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creativecommons.org/licenses/by-sa/3.0" TargetMode="External"/><Relationship Id="rId4" Type="http://schemas.openxmlformats.org/officeDocument/2006/relationships/hyperlink" Target="http://commons.wikimedia.org/wiki/File:USOS_window_identification.p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commons.wikimedia.org/wiki/File:EATCS.png"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commons.wikimedia.org/wiki/File:Soyuz_tm-31_transported_to_launch_pad.jp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commons.wikimedia.org/wiki/File:ISS-36_HTV-4_berthing_2.jp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commons.wikimedia.org/wiki/File:Exp18home_nasa_big.jp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commons.wikimedia.org/wiki/File:Nikolai_Budarin_in_a_sleep_station_in_Zvezda.jpg"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commons.wikimedia.org/wiki/File:Debris-GEO1280.jpg" TargetMode="External"/><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commons.wikimedia.org/wiki/File:Jules_Verne_Automated_Transfer_Vehicle_re-enters_Earth's_atmosphere.jpg" TargetMode="External"/><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76E6-8E55-4532-B4C9-362459A30A05}"/>
              </a:ext>
            </a:extLst>
          </p:cNvPr>
          <p:cNvSpPr>
            <a:spLocks noGrp="1"/>
          </p:cNvSpPr>
          <p:nvPr>
            <p:ph type="title"/>
          </p:nvPr>
        </p:nvSpPr>
        <p:spPr/>
        <p:txBody>
          <a:bodyPr/>
          <a:lstStyle/>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Here's your outline to get started</a:t>
            </a:r>
          </a:p>
        </p:txBody>
      </p:sp>
      <p:sp>
        <p:nvSpPr>
          <p:cNvPr id="20" name="Text 2"/>
          <p:cNvSpPr/>
          <p:nvPr/>
        </p:nvSpPr>
        <p:spPr>
          <a:xfrm>
            <a:off x="838200" y="1461299"/>
            <a:ext cx="10462846" cy="415498"/>
          </a:xfrm>
          <a:prstGeom prst="rect">
            <a:avLst/>
          </a:prstGeom>
        </p:spPr>
        <p:txBody>
          <a:bodyPr wrap="square">
            <a:spAutoFit/>
          </a:bodyPr>
          <a:lstStyle/>
          <a:p>
            <a:pPr>
              <a:lnSpc>
                <a:spcPct val="150000"/>
              </a:lnSpc>
            </a:pPr>
            <a:r>
              <a:rPr lang="en-US" sz="1400" dirty="0">
                <a:solidFill>
                  <a:srgbClr val="D24726"/>
                </a:solidFill>
                <a:latin typeface="Helvetica Neue" panose="020B0702040204020203" pitchFamily="34" charset="0"/>
                <a:ea typeface="Helvetica Neue" panose="020B0702040204020203" pitchFamily="34" charset="0"/>
                <a:cs typeface="Helvetica Neue" panose="020B0502040204020203" pitchFamily="34" charset="0"/>
              </a:rPr>
              <a:t>Key facts about your topic</a:t>
            </a:r>
          </a:p>
        </p:txBody>
      </p:sp>
      <p:sp>
        <p:nvSpPr>
          <p:cNvPr id="21" name="Content Placeholder 2"/>
          <p:cNvSpPr txBox="1">
            <a:spLocks/>
          </p:cNvSpPr>
          <p:nvPr/>
        </p:nvSpPr>
        <p:spPr>
          <a:xfrm>
            <a:off x="850250" y="1876798"/>
            <a:ext cx="5028036" cy="4000000"/>
          </a:xfrm>
          <a:prstGeom prst="rect">
            <a:avLst/>
          </a:prstGeom>
          <a:ln w="57150">
            <a:noFill/>
          </a:ln>
        </p:spPr>
        <p:txBody>
          <a:bodyPr vert="horz" lIns="91440" tIns="45720" rIns="91440" bIns="45720" numCol="1" rtlCol="0" anchor="t">
            <a:normAutofit/>
          </a:bodyPr>
          <a:lstStyle/>
          <a:p>
            <a:pPr marL="0" indent="0">
              <a:lnSpc>
                <a:spcPct val="150000"/>
              </a:lnSpc>
              <a:spcBef>
                <a:spcPts val="0"/>
              </a:spcBef>
              <a:buFont typeface="Arial" panose="020B0604020202020204" pitchFamily="34" charset="0"/>
              <a:buNone/>
            </a:pPr>
            <a:r>
              <a:rPr lang="en-US" sz="1400" dirty="0">
                <a:solidFill>
                  <a:schemeClr val="tx1">
                    <a:lumMod val="65000"/>
                    <a:lumOff val="35000"/>
                  </a:schemeClr>
                </a:solidFill>
                <a:latin typeface="Helvetica Neue Light" panose="020B0402040204020203" pitchFamily="34" charset="0"/>
                <a:ea typeface="Helvetica Neue" panose="020B0502040204020203" pitchFamily="34" charset="0"/>
                <a:cs typeface="Helvetica Neue Light" panose="020B0402040204020203" pitchFamily="34" charset="0"/>
              </a:rPr>
              <a:t>The International Space Station is a space station in low Earth orbit. The ISS programme is a joint project between five participating space agencies: NASA, Roscosmos, JAXA, ESA, and CSA. The ownership and use of the space station is established by intergovernmental treaties and agreements.</a:t>
            </a:r>
          </a:p>
        </p:txBody>
      </p:sp>
      <p:sp>
        <p:nvSpPr>
          <p:cNvPr id="22" name="Content Placeholder 3"/>
          <p:cNvSpPr/>
          <p:nvPr/>
        </p:nvSpPr>
        <p:spPr>
          <a:xfrm>
            <a:off x="6211660" y="1876798"/>
            <a:ext cx="5237389" cy="4000000"/>
          </a:xfrm>
          <a:prstGeom prst="rect">
            <a:avLst/>
          </a:prstGeom>
        </p:spPr>
        <p:txBody>
          <a:bodyPr wrap="square">
            <a:spAutoFit/>
          </a:bodyPr>
          <a:lstStyle/>
          <a:p>
            <a:pPr>
              <a:lnSpc>
                <a:spcPct val="150000"/>
              </a:lnSpc>
            </a:pPr>
            <a:r>
              <a:rPr lang="en-US" sz="1400" b="1" dirty="0">
                <a:solidFill>
                  <a:srgbClr val="D24726"/>
                </a:solidFill>
                <a:latin typeface="Helvetica Neue" panose="020B0702040204020203" pitchFamily="34" charset="0"/>
                <a:ea typeface="Helvetica Neue" panose="020B0702040204020203" pitchFamily="34" charset="0"/>
              </a:rPr>
              <a:t>Orbital height: </a:t>
            </a:r>
            <a:r>
              <a:rPr lang="en-US" sz="1400" dirty="0">
                <a:solidFill>
                  <a:schemeClr val="tx1">
                    <a:lumMod val="65000"/>
                    <a:lumOff val="35000"/>
                  </a:schemeClr>
                </a:solidFill>
                <a:latin typeface="Helvetica Neue Light" panose="020B0402040204020203" pitchFamily="34" charset="0"/>
                <a:cs typeface="Helvetica Neue Light" panose="020B0402040204020203" pitchFamily="34" charset="0"/>
              </a:rPr>
              <a:t>205 miles (330 km)</a:t>
            </a:r>
          </a:p>
          <a:p>
            <a:pPr>
              <a:lnSpc>
                <a:spcPct val="150000"/>
              </a:lnSpc>
            </a:pPr>
            <a:r>
              <a:rPr lang="en-US" sz="1400" b="1" dirty="0">
                <a:solidFill>
                  <a:srgbClr val="D24726"/>
                </a:solidFill>
                <a:latin typeface="Helvetica Neue" panose="020B0702040204020203" pitchFamily="34" charset="0"/>
                <a:ea typeface="Helvetica Neue" panose="020B0702040204020203" pitchFamily="34" charset="0"/>
              </a:rPr>
              <a:t>Launched: </a:t>
            </a:r>
            <a:r>
              <a:rPr lang="en-US" sz="1400" dirty="0">
                <a:solidFill>
                  <a:schemeClr val="tx1">
                    <a:lumMod val="65000"/>
                    <a:lumOff val="35000"/>
                  </a:schemeClr>
                </a:solidFill>
                <a:latin typeface="Helvetica Neue Light" panose="020B0402040204020203" pitchFamily="34" charset="0"/>
                <a:cs typeface="Helvetica Neue Light" panose="020B0402040204020203" pitchFamily="34" charset="0"/>
              </a:rPr>
              <a:t>Nov 20, 1998</a:t>
            </a:r>
          </a:p>
          <a:p>
            <a:pPr>
              <a:lnSpc>
                <a:spcPct val="150000"/>
              </a:lnSpc>
            </a:pPr>
            <a:r>
              <a:rPr lang="en-US" sz="1400" b="1" dirty="0">
                <a:solidFill>
                  <a:srgbClr val="D24726"/>
                </a:solidFill>
                <a:latin typeface="Helvetica Neue" panose="020B0702040204020203" pitchFamily="34" charset="0"/>
                <a:ea typeface="Helvetica Neue" panose="020B0702040204020203" pitchFamily="34" charset="0"/>
              </a:rPr>
              <a:t>Mission sent there: </a:t>
            </a:r>
            <a:r>
              <a:rPr lang="en-US" sz="1400" dirty="0">
                <a:solidFill>
                  <a:schemeClr val="tx1">
                    <a:lumMod val="65000"/>
                    <a:lumOff val="35000"/>
                  </a:schemeClr>
                </a:solidFill>
                <a:latin typeface="Helvetica Neue Light" panose="020B0402040204020203" pitchFamily="34" charset="0"/>
                <a:cs typeface="Helvetica Neue Light" panose="020B0402040204020203" pitchFamily="34" charset="0"/>
              </a:rPr>
              <a:t>Expedition 45, Expedition 44, Soyuz TMA-13M</a:t>
            </a:r>
          </a:p>
          <a:p>
            <a:pPr>
              <a:lnSpc>
                <a:spcPct val="150000"/>
              </a:lnSpc>
            </a:pPr>
            <a:r>
              <a:rPr lang="en-US" sz="1400" b="1" dirty="0">
                <a:solidFill>
                  <a:srgbClr val="D24726"/>
                </a:solidFill>
                <a:latin typeface="Helvetica Neue" panose="020B0702040204020203" pitchFamily="34" charset="0"/>
                <a:ea typeface="Helvetica Neue" panose="020B0702040204020203" pitchFamily="34" charset="0"/>
              </a:rPr>
              <a:t>Orbital speed: </a:t>
            </a:r>
            <a:r>
              <a:rPr lang="en-US" sz="1400" dirty="0">
                <a:solidFill>
                  <a:schemeClr val="tx1">
                    <a:lumMod val="65000"/>
                    <a:lumOff val="35000"/>
                  </a:schemeClr>
                </a:solidFill>
                <a:latin typeface="Helvetica Neue Light" panose="020B0402040204020203" pitchFamily="34" charset="0"/>
                <a:cs typeface="Helvetica Neue Light" panose="020B0402040204020203" pitchFamily="34" charset="0"/>
              </a:rPr>
              <a:t>4.79 miles/s (7.71 km/s)</a:t>
            </a:r>
          </a:p>
        </p:txBody>
      </p:sp>
      <p:sp>
        <p:nvSpPr>
          <p:cNvPr id="23" name="Footer Placeholder 2"/>
          <p:cNvSpPr>
            <a:spLocks noGrp="1"/>
          </p:cNvSpPr>
          <p:nvPr>
            <p:ph type="ftr" sz="quarter" idx="11"/>
          </p:nvPr>
        </p:nvSpPr>
        <p:spPr>
          <a:xfrm>
            <a:off x="838199" y="6229028"/>
            <a:ext cx="5779169" cy="365125"/>
          </a:xfrm>
        </p:spPr>
        <p:txBody>
          <a:bodyPr/>
          <a:lstStyle/>
          <a:p>
            <a:pPr algn="l"/>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hlinkClick r:id="rId3"/>
              </a:rPr>
              <a:t>en.wikipedia.org</a:t>
            </a:r>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rPr>
              <a:t> - Text under </a:t>
            </a:r>
            <a:r>
              <a:rPr lang="en-US" dirty="0">
                <a:solidFill>
                  <a:schemeClr val="tx2"/>
                </a:solidFill>
                <a:latin typeface="Helvetica Neue" panose="020B0502040204020203" pitchFamily="34" charset="0"/>
                <a:ea typeface="Helvetica Neue" panose="020B0502040204020203" pitchFamily="34" charset="0"/>
                <a:cs typeface="Helvetica Neue" panose="020B0502040204020203" pitchFamily="34" charset="0"/>
                <a:hlinkClick r:id="rId4"/>
              </a:rPr>
              <a:t>CC-BY-SA license</a:t>
            </a:r>
            <a:endParaRPr lang="en-US" dirty="0"/>
          </a:p>
        </p:txBody>
      </p:sp>
      <p:grpSp>
        <p:nvGrpSpPr>
          <p:cNvPr id="4" name="Group 3">
            <a:extLst>
              <a:ext uri="{FF2B5EF4-FFF2-40B4-BE49-F238E27FC236}">
                <a16:creationId xmlns:a16="http://schemas.microsoft.com/office/drawing/2014/main" id="{E07FEDDE-7BE3-4AF0-89AC-8212D722B9B0}"/>
              </a:ext>
            </a:extLst>
          </p:cNvPr>
          <p:cNvGrpSpPr/>
          <p:nvPr/>
        </p:nvGrpSpPr>
        <p:grpSpPr>
          <a:xfrm>
            <a:off x="6211661" y="6042093"/>
            <a:ext cx="5138199" cy="734947"/>
            <a:chOff x="6211661" y="6042093"/>
            <a:chExt cx="5138199" cy="734947"/>
          </a:xfrm>
        </p:grpSpPr>
        <p:sp>
          <p:nvSpPr>
            <p:cNvPr id="5" name="Rectangle 8">
              <a:extLst>
                <a:ext uri="{FF2B5EF4-FFF2-40B4-BE49-F238E27FC236}">
                  <a16:creationId xmlns:a16="http://schemas.microsoft.com/office/drawing/2014/main" id="{184C5845-0FFB-4734-A9BE-3E8CEA8008D3}"/>
                </a:ext>
              </a:extLst>
            </p:cNvPr>
            <p:cNvSpPr/>
            <p:nvPr/>
          </p:nvSpPr>
          <p:spPr>
            <a:xfrm>
              <a:off x="6211661" y="6042093"/>
              <a:ext cx="5138199" cy="630783"/>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6" name="TextBox 7">
              <a:extLst>
                <a:ext uri="{FF2B5EF4-FFF2-40B4-BE49-F238E27FC236}">
                  <a16:creationId xmlns:a16="http://schemas.microsoft.com/office/drawing/2014/main" id="{33CDDC14-D7C0-4FC6-8360-4E6E50174088}"/>
                </a:ext>
              </a:extLst>
            </p:cNvPr>
            <p:cNvSpPr txBox="1"/>
            <p:nvPr/>
          </p:nvSpPr>
          <p:spPr>
            <a:xfrm>
              <a:off x="6980629" y="6140658"/>
              <a:ext cx="2303691" cy="451406"/>
            </a:xfrm>
            <a:prstGeom prst="rect">
              <a:avLst/>
            </a:prstGeom>
            <a:noFill/>
          </p:spPr>
          <p:txBody>
            <a:bodyPr wrap="square" rtlCol="0">
              <a:spAutoFit/>
            </a:bodyPr>
            <a:lstStyle/>
            <a:p>
              <a:pPr>
                <a:lnSpc>
                  <a:spcPts val="1400"/>
                </a:lnSpc>
              </a:pPr>
              <a:r>
                <a:rPr lang="en-US" sz="1200" dirty="0">
                  <a:solidFill>
                    <a:srgbClr val="D24726"/>
                  </a:solidFill>
                  <a:latin typeface="Helvetica" panose="020B0604020202020204" pitchFamily="34" charset="0"/>
                  <a:cs typeface="Helvetica" panose="020B0604020202020204" pitchFamily="34" charset="0"/>
                </a:rPr>
                <a:t>See more: </a:t>
              </a:r>
              <a:r>
                <a:rPr lang="en-US" sz="1200" dirty="0">
                  <a:solidFill>
                    <a:schemeClr val="tx1">
                      <a:lumMod val="65000"/>
                      <a:lumOff val="35000"/>
                    </a:schemeClr>
                  </a:solidFill>
                  <a:latin typeface="Helvetica" panose="020B0604020202020204" pitchFamily="34" charset="0"/>
                  <a:ea typeface="Segoe UI Symbol" panose="020B0502040204020203" pitchFamily="34" charset="0"/>
                  <a:cs typeface="Helvetica" panose="020B0604020202020204" pitchFamily="34" charset="0"/>
                </a:rPr>
                <a:t>Open the Notes below for more information.</a:t>
              </a:r>
            </a:p>
          </p:txBody>
        </p:sp>
        <p:pic>
          <p:nvPicPr>
            <p:cNvPr id="7" name="Picture 11" descr="Curved arrow">
              <a:extLst>
                <a:ext uri="{FF2B5EF4-FFF2-40B4-BE49-F238E27FC236}">
                  <a16:creationId xmlns:a16="http://schemas.microsoft.com/office/drawing/2014/main" id="{A3DA137E-6B53-4403-B00B-B734CA13A906}"/>
                </a:ext>
              </a:extLst>
            </p:cNvPr>
            <p:cNvPicPr/>
            <p:nvPr/>
          </p:nvPicPr>
          <p:blipFill>
            <a:blip r:embed="rId5" cstate="print">
              <a:extLst>
                <a:ext uri="{28A0092B-C50C-407E-A947-70E740481C1C}">
                  <a14:useLocalDpi xmlns:a14="http://schemas.microsoft.com/office/drawing/2010/main" val="0"/>
                </a:ext>
              </a:extLst>
            </a:blip>
            <a:stretch>
              <a:fillRect/>
            </a:stretch>
          </p:blipFill>
          <p:spPr>
            <a:xfrm rot="10354591" flipH="1">
              <a:off x="6306564" y="6342835"/>
              <a:ext cx="742543" cy="434205"/>
            </a:xfrm>
            <a:prstGeom prst="rect">
              <a:avLst/>
            </a:prstGeom>
          </p:spPr>
        </p:pic>
      </p:grpSp>
      <p:pic>
        <p:nvPicPr>
          <p:cNvPr id="9" name="Picture 8" descr="Notes button in status bar">
            <a:extLst>
              <a:ext uri="{FF2B5EF4-FFF2-40B4-BE49-F238E27FC236}">
                <a16:creationId xmlns:a16="http://schemas.microsoft.com/office/drawing/2014/main" id="{C8C2AE28-6AB7-4F9D-A4D5-5EAAD6263283}"/>
              </a:ext>
            </a:extLst>
          </p:cNvPr>
          <p:cNvPicPr>
            <a:picLocks noChangeAspect="1"/>
          </p:cNvPicPr>
          <p:nvPr/>
        </p:nvPicPr>
        <p:blipFill>
          <a:blip r:embed="rId6"/>
          <a:stretch>
            <a:fillRect/>
          </a:stretch>
        </p:blipFill>
        <p:spPr>
          <a:xfrm>
            <a:off x="9068176" y="5968740"/>
            <a:ext cx="2381132" cy="795243"/>
          </a:xfrm>
          <a:prstGeom prst="rect">
            <a:avLst/>
          </a:prstGeom>
        </p:spPr>
      </p:pic>
    </p:spTree>
    <p:extLst>
      <p:ext uri="{BB962C8B-B14F-4D97-AF65-F5344CB8AC3E}">
        <p14:creationId xmlns:p14="http://schemas.microsoft.com/office/powerpoint/2010/main" val="37486675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Content Placeholder 21">
            <a:extLst>
              <a:ext uri="{FF2B5EF4-FFF2-40B4-BE49-F238E27FC236}">
                <a16:creationId xmlns:a16="http://schemas.microsoft.com/office/drawing/2014/main" id="{282CB683-B267-477B-B209-C7389FAA0448}"/>
              </a:ext>
            </a:extLst>
          </p:cNvPr>
          <p:cNvSpPr>
            <a:spLocks noGrp="1"/>
          </p:cNvSpPr>
          <p:nvPr>
            <p:ph idx="1"/>
          </p:nvPr>
        </p:nvSpPr>
        <p:spPr/>
        <p:txBody>
          <a:bodyPr/>
          <a:lstStyle/>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Space station</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NASA</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Low Earth orbit</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Assembly of the International Space Station</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Space tourism</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Space Shuttle program</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Zvezda</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Apollo 11</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European Space Agency</a:t>
            </a:r>
          </a:p>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Satellite</a:t>
            </a:r>
          </a:p>
        </p:txBody>
      </p:sp>
      <p:sp>
        <p:nvSpPr>
          <p:cNvPr id="2" name="Title 1">
            <a:extLst>
              <a:ext uri="{FF2B5EF4-FFF2-40B4-BE49-F238E27FC236}">
                <a16:creationId xmlns:a16="http://schemas.microsoft.com/office/drawing/2014/main" id="{7F2DA537-9EAD-4C2A-8B8C-B5471C6F5D65}"/>
              </a:ext>
            </a:extLst>
          </p:cNvPr>
          <p:cNvSpPr>
            <a:spLocks noGrp="1"/>
          </p:cNvSpPr>
          <p:nvPr>
            <p:ph type="title"/>
          </p:nvPr>
        </p:nvSpPr>
        <p:spPr/>
        <p:txBody>
          <a:bodyPr/>
          <a:lstStyle/>
          <a:p>
            <a:r>
              <a:rPr lang="en-US" dirty="0">
                <a:latin typeface="Helvetica Neue Light" panose="020B0702040204020203" pitchFamily="34" charset="0"/>
                <a:ea typeface="Helvetica Neue Light" panose="020B0702040204020203" pitchFamily="34" charset="0"/>
                <a:cs typeface="Helvetica Neue" panose="020B0502040204020203" pitchFamily="34" charset="0"/>
              </a:rPr>
              <a:t>Related topics to research</a:t>
            </a:r>
          </a:p>
        </p:txBody>
      </p:sp>
      <p:grpSp>
        <p:nvGrpSpPr>
          <p:cNvPr id="4" name="Group 3">
            <a:extLst>
              <a:ext uri="{FF2B5EF4-FFF2-40B4-BE49-F238E27FC236}">
                <a16:creationId xmlns:a16="http://schemas.microsoft.com/office/drawing/2014/main" id="{5F891352-0AB3-4D77-AA93-8E0A1738F8F4}"/>
              </a:ext>
            </a:extLst>
          </p:cNvPr>
          <p:cNvGrpSpPr/>
          <p:nvPr/>
        </p:nvGrpSpPr>
        <p:grpSpPr>
          <a:xfrm>
            <a:off x="5943601" y="1609726"/>
            <a:ext cx="5406259" cy="2019300"/>
            <a:chOff x="5943601" y="1609726"/>
            <a:chExt cx="5406259" cy="2019300"/>
          </a:xfrm>
        </p:grpSpPr>
        <p:sp>
          <p:nvSpPr>
            <p:cNvPr id="5" name="Rectangle 5">
              <a:extLst>
                <a:ext uri="{FF2B5EF4-FFF2-40B4-BE49-F238E27FC236}">
                  <a16:creationId xmlns:a16="http://schemas.microsoft.com/office/drawing/2014/main" id="{20526183-096D-4868-AE2D-0200EE5F1D5D}"/>
                </a:ext>
              </a:extLst>
            </p:cNvPr>
            <p:cNvSpPr/>
            <p:nvPr/>
          </p:nvSpPr>
          <p:spPr>
            <a:xfrm>
              <a:off x="5943601" y="1609726"/>
              <a:ext cx="5406259" cy="20193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6" name="TextBox 4">
              <a:extLst>
                <a:ext uri="{FF2B5EF4-FFF2-40B4-BE49-F238E27FC236}">
                  <a16:creationId xmlns:a16="http://schemas.microsoft.com/office/drawing/2014/main" id="{E9B136C8-7575-43EF-A6F3-EC4F69800828}"/>
                </a:ext>
              </a:extLst>
            </p:cNvPr>
            <p:cNvSpPr txBox="1"/>
            <p:nvPr/>
          </p:nvSpPr>
          <p:spPr>
            <a:xfrm>
              <a:off x="6189439" y="1827382"/>
              <a:ext cx="2849999" cy="307777"/>
            </a:xfrm>
            <a:prstGeom prst="rect">
              <a:avLst/>
            </a:prstGeom>
            <a:noFill/>
          </p:spPr>
          <p:txBody>
            <a:bodyPr wrap="square" rtlCol="0">
              <a:spAutoFit/>
            </a:bodyPr>
            <a:lstStyle/>
            <a:p>
              <a:pPr>
                <a:spcAft>
                  <a:spcPts val="1200"/>
                </a:spcAft>
              </a:pPr>
              <a:r>
                <a:rPr lang="en-US" sz="1400" dirty="0">
                  <a:solidFill>
                    <a:srgbClr val="D24726"/>
                  </a:solidFill>
                  <a:latin typeface="Helvetica" panose="020B0604020202020204" pitchFamily="34" charset="0"/>
                  <a:cs typeface="Helvetica" panose="020B0604020202020204" pitchFamily="34" charset="0"/>
                </a:rPr>
                <a:t>Use Smart Lookup to learn more</a:t>
              </a:r>
              <a:endParaRPr lang="en-US" sz="1400" dirty="0">
                <a:solidFill>
                  <a:srgbClr val="D24726"/>
                </a:solidFill>
                <a:latin typeface="Helvetica" panose="020B0604020202020204" pitchFamily="34" charset="0"/>
                <a:ea typeface="Segoe UI Symbol" panose="020B0502040204020203" pitchFamily="34" charset="0"/>
                <a:cs typeface="Helvetica" panose="020B0604020202020204" pitchFamily="34" charset="0"/>
              </a:endParaRPr>
            </a:p>
          </p:txBody>
        </p:sp>
        <p:sp>
          <p:nvSpPr>
            <p:cNvPr id="7" name="TextBox 7">
              <a:extLst>
                <a:ext uri="{FF2B5EF4-FFF2-40B4-BE49-F238E27FC236}">
                  <a16:creationId xmlns:a16="http://schemas.microsoft.com/office/drawing/2014/main" id="{F5C6FF1D-DFD2-4DBD-BDE7-F882DDC6DC74}"/>
                </a:ext>
              </a:extLst>
            </p:cNvPr>
            <p:cNvSpPr txBox="1"/>
            <p:nvPr/>
          </p:nvSpPr>
          <p:spPr>
            <a:xfrm>
              <a:off x="6450618" y="2207781"/>
              <a:ext cx="2626919" cy="954107"/>
            </a:xfrm>
            <a:prstGeom prst="rect">
              <a:avLst/>
            </a:prstGeom>
            <a:noFill/>
          </p:spPr>
          <p:txBody>
            <a:bodyPr wrap="square" rtlCol="0">
              <a:spAutoFit/>
            </a:bodyPr>
            <a:lstStyle/>
            <a:p>
              <a:pPr>
                <a:spcAft>
                  <a:spcPts val="1200"/>
                </a:spcAft>
              </a:pPr>
              <a:r>
                <a:rPr lang="en-US" sz="1200" dirty="0">
                  <a:solidFill>
                    <a:schemeClr val="tx1">
                      <a:lumMod val="65000"/>
                      <a:lumOff val="35000"/>
                    </a:schemeClr>
                  </a:solidFill>
                  <a:latin typeface="Helvetica" panose="020B0604020202020204" pitchFamily="34" charset="0"/>
                  <a:ea typeface="Segoe UI Symbol" panose="020B0502040204020203" pitchFamily="34" charset="0"/>
                  <a:cs typeface="Helvetica" panose="020B0604020202020204" pitchFamily="34" charset="0"/>
                </a:rPr>
                <a:t>Highlight one of the related topics</a:t>
              </a:r>
            </a:p>
            <a:p>
              <a:pPr>
                <a:spcAft>
                  <a:spcPts val="1200"/>
                </a:spcAft>
              </a:pPr>
              <a:r>
                <a:rPr lang="en-US" sz="1200" dirty="0">
                  <a:solidFill>
                    <a:schemeClr val="tx1">
                      <a:lumMod val="65000"/>
                      <a:lumOff val="35000"/>
                    </a:schemeClr>
                  </a:solidFill>
                  <a:latin typeface="Helvetica" panose="020B0604020202020204" pitchFamily="34" charset="0"/>
                  <a:ea typeface="Segoe UI Symbol" panose="020B0502040204020203" pitchFamily="34" charset="0"/>
                  <a:cs typeface="Helvetica" panose="020B0604020202020204" pitchFamily="34" charset="0"/>
                </a:rPr>
                <a:t>Right-click on the topic</a:t>
              </a:r>
            </a:p>
            <a:p>
              <a:pPr marL="174625" indent="-174625">
                <a:spcAft>
                  <a:spcPts val="1200"/>
                </a:spcAft>
              </a:pPr>
              <a:r>
                <a:rPr lang="en-US" sz="1200" dirty="0">
                  <a:solidFill>
                    <a:schemeClr val="tx1">
                      <a:lumMod val="65000"/>
                      <a:lumOff val="35000"/>
                    </a:schemeClr>
                  </a:solidFill>
                  <a:latin typeface="Helvetica" panose="020B0604020202020204" pitchFamily="34" charset="0"/>
                  <a:ea typeface="Segoe UI Symbol" panose="020B0502040204020203" pitchFamily="34" charset="0"/>
                  <a:cs typeface="Helvetica" panose="020B0604020202020204" pitchFamily="34" charset="0"/>
                </a:rPr>
                <a:t>Choose "Smart Lookup"</a:t>
              </a:r>
            </a:p>
          </p:txBody>
        </p:sp>
        <p:grpSp>
          <p:nvGrpSpPr>
            <p:cNvPr id="8" name="Group 12">
              <a:extLst>
                <a:ext uri="{FF2B5EF4-FFF2-40B4-BE49-F238E27FC236}">
                  <a16:creationId xmlns:a16="http://schemas.microsoft.com/office/drawing/2014/main" id="{58C4CE24-6148-4604-B285-49040644B37D}"/>
                </a:ext>
              </a:extLst>
            </p:cNvPr>
            <p:cNvGrpSpPr/>
            <p:nvPr/>
          </p:nvGrpSpPr>
          <p:grpSpPr>
            <a:xfrm>
              <a:off x="6272613" y="2219603"/>
              <a:ext cx="206735" cy="246221"/>
              <a:chOff x="5977794" y="2200556"/>
              <a:chExt cx="206735" cy="246221"/>
            </a:xfrm>
          </p:grpSpPr>
          <p:sp>
            <p:nvSpPr>
              <p:cNvPr id="16" name="Oval 9">
                <a:extLst>
                  <a:ext uri="{FF2B5EF4-FFF2-40B4-BE49-F238E27FC236}">
                    <a16:creationId xmlns:a16="http://schemas.microsoft.com/office/drawing/2014/main" id="{AB6051AB-2E0C-4F74-AA09-3E8DBF11667D}"/>
                  </a:ext>
                </a:extLst>
              </p:cNvPr>
              <p:cNvSpPr/>
              <p:nvPr/>
            </p:nvSpPr>
            <p:spPr>
              <a:xfrm>
                <a:off x="5978839" y="2237913"/>
                <a:ext cx="188599" cy="188599"/>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7" name="TextBox 11">
                <a:extLst>
                  <a:ext uri="{FF2B5EF4-FFF2-40B4-BE49-F238E27FC236}">
                    <a16:creationId xmlns:a16="http://schemas.microsoft.com/office/drawing/2014/main" id="{97FDCC9F-9887-487F-8C6D-BBB3CB2773C3}"/>
                  </a:ext>
                </a:extLst>
              </p:cNvPr>
              <p:cNvSpPr txBox="1">
                <a:spLocks noChangeAspect="1"/>
              </p:cNvSpPr>
              <p:nvPr/>
            </p:nvSpPr>
            <p:spPr>
              <a:xfrm>
                <a:off x="5977794" y="2200556"/>
                <a:ext cx="206735" cy="246221"/>
              </a:xfrm>
              <a:prstGeom prst="rect">
                <a:avLst/>
              </a:prstGeom>
              <a:noFill/>
            </p:spPr>
            <p:txBody>
              <a:bodyPr wrap="square" rtlCol="0">
                <a:spAutoFit/>
              </a:bodyPr>
              <a:lstStyle/>
              <a:p>
                <a:pPr algn="ctr"/>
                <a:r>
                  <a:rPr lang="en-US" sz="1000" dirty="0">
                    <a:solidFill>
                      <a:schemeClr val="bg1"/>
                    </a:solidFill>
                    <a:latin typeface="Helvetica" panose="020B0604020202020204" pitchFamily="34" charset="0"/>
                    <a:cs typeface="Helvetica" panose="020B0604020202020204" pitchFamily="34" charset="0"/>
                  </a:rPr>
                  <a:t>1</a:t>
                </a:r>
              </a:p>
            </p:txBody>
          </p:sp>
        </p:grpSp>
        <p:grpSp>
          <p:nvGrpSpPr>
            <p:cNvPr id="9" name="Group 13">
              <a:extLst>
                <a:ext uri="{FF2B5EF4-FFF2-40B4-BE49-F238E27FC236}">
                  <a16:creationId xmlns:a16="http://schemas.microsoft.com/office/drawing/2014/main" id="{D9700851-3B5E-45AB-991B-762DE0355EF6}"/>
                </a:ext>
              </a:extLst>
            </p:cNvPr>
            <p:cNvGrpSpPr/>
            <p:nvPr/>
          </p:nvGrpSpPr>
          <p:grpSpPr>
            <a:xfrm>
              <a:off x="6273658" y="2563905"/>
              <a:ext cx="197144" cy="246221"/>
              <a:chOff x="5978839" y="2209102"/>
              <a:chExt cx="197144" cy="246221"/>
            </a:xfrm>
          </p:grpSpPr>
          <p:sp>
            <p:nvSpPr>
              <p:cNvPr id="14" name="Oval 14">
                <a:extLst>
                  <a:ext uri="{FF2B5EF4-FFF2-40B4-BE49-F238E27FC236}">
                    <a16:creationId xmlns:a16="http://schemas.microsoft.com/office/drawing/2014/main" id="{0FDC7121-EA5E-4996-B879-22CC04BEA201}"/>
                  </a:ext>
                </a:extLst>
              </p:cNvPr>
              <p:cNvSpPr/>
              <p:nvPr/>
            </p:nvSpPr>
            <p:spPr>
              <a:xfrm>
                <a:off x="5978839" y="2237913"/>
                <a:ext cx="188599" cy="188599"/>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5" name="TextBox 15">
                <a:extLst>
                  <a:ext uri="{FF2B5EF4-FFF2-40B4-BE49-F238E27FC236}">
                    <a16:creationId xmlns:a16="http://schemas.microsoft.com/office/drawing/2014/main" id="{B4BBF7ED-662E-4BA3-83B6-05208C9B757A}"/>
                  </a:ext>
                </a:extLst>
              </p:cNvPr>
              <p:cNvSpPr txBox="1">
                <a:spLocks noChangeAspect="1"/>
              </p:cNvSpPr>
              <p:nvPr/>
            </p:nvSpPr>
            <p:spPr>
              <a:xfrm>
                <a:off x="5987384" y="2209102"/>
                <a:ext cx="188599" cy="246221"/>
              </a:xfrm>
              <a:prstGeom prst="rect">
                <a:avLst/>
              </a:prstGeom>
              <a:noFill/>
            </p:spPr>
            <p:txBody>
              <a:bodyPr wrap="square" rtlCol="0">
                <a:spAutoFit/>
              </a:bodyPr>
              <a:lstStyle/>
              <a:p>
                <a:pPr algn="ctr"/>
                <a:r>
                  <a:rPr lang="en-US" sz="1000" dirty="0">
                    <a:solidFill>
                      <a:schemeClr val="bg1"/>
                    </a:solidFill>
                    <a:latin typeface="Helvetica" panose="020B0604020202020204" pitchFamily="34" charset="0"/>
                    <a:cs typeface="Helvetica" panose="020B0604020202020204" pitchFamily="34" charset="0"/>
                  </a:rPr>
                  <a:t>2</a:t>
                </a:r>
              </a:p>
            </p:txBody>
          </p:sp>
        </p:grpSp>
        <p:grpSp>
          <p:nvGrpSpPr>
            <p:cNvPr id="10" name="Group 16">
              <a:extLst>
                <a:ext uri="{FF2B5EF4-FFF2-40B4-BE49-F238E27FC236}">
                  <a16:creationId xmlns:a16="http://schemas.microsoft.com/office/drawing/2014/main" id="{8CC6D345-719C-4EA8-9CCC-735633CC607F}"/>
                </a:ext>
              </a:extLst>
            </p:cNvPr>
            <p:cNvGrpSpPr/>
            <p:nvPr/>
          </p:nvGrpSpPr>
          <p:grpSpPr>
            <a:xfrm>
              <a:off x="6273658" y="2902042"/>
              <a:ext cx="197145" cy="251363"/>
              <a:chOff x="5978839" y="2209102"/>
              <a:chExt cx="197145" cy="251363"/>
            </a:xfrm>
          </p:grpSpPr>
          <p:sp>
            <p:nvSpPr>
              <p:cNvPr id="12" name="Oval 17">
                <a:extLst>
                  <a:ext uri="{FF2B5EF4-FFF2-40B4-BE49-F238E27FC236}">
                    <a16:creationId xmlns:a16="http://schemas.microsoft.com/office/drawing/2014/main" id="{2E56D573-7C3B-46F0-982D-5DD5D53E931B}"/>
                  </a:ext>
                </a:extLst>
              </p:cNvPr>
              <p:cNvSpPr/>
              <p:nvPr/>
            </p:nvSpPr>
            <p:spPr>
              <a:xfrm>
                <a:off x="5978839" y="2237913"/>
                <a:ext cx="188599" cy="188599"/>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3" name="TextBox 18">
                <a:extLst>
                  <a:ext uri="{FF2B5EF4-FFF2-40B4-BE49-F238E27FC236}">
                    <a16:creationId xmlns:a16="http://schemas.microsoft.com/office/drawing/2014/main" id="{A400E4DB-EAAB-40EC-B86F-2B5325C2941B}"/>
                  </a:ext>
                </a:extLst>
              </p:cNvPr>
              <p:cNvSpPr txBox="1">
                <a:spLocks noChangeAspect="1"/>
              </p:cNvSpPr>
              <p:nvPr/>
            </p:nvSpPr>
            <p:spPr>
              <a:xfrm>
                <a:off x="5983446" y="2209102"/>
                <a:ext cx="192538" cy="251363"/>
              </a:xfrm>
              <a:prstGeom prst="rect">
                <a:avLst/>
              </a:prstGeom>
              <a:noFill/>
            </p:spPr>
            <p:txBody>
              <a:bodyPr wrap="square" rtlCol="0">
                <a:spAutoFit/>
              </a:bodyPr>
              <a:lstStyle/>
              <a:p>
                <a:pPr algn="ctr"/>
                <a:r>
                  <a:rPr lang="en-US" sz="1000" dirty="0">
                    <a:solidFill>
                      <a:schemeClr val="bg1"/>
                    </a:solidFill>
                    <a:latin typeface="Helvetica" panose="020B0604020202020204" pitchFamily="34" charset="0"/>
                    <a:cs typeface="Helvetica" panose="020B0604020202020204" pitchFamily="34" charset="0"/>
                  </a:rPr>
                  <a:t>3</a:t>
                </a:r>
              </a:p>
            </p:txBody>
          </p:sp>
        </p:grpSp>
      </p:grpSp>
      <p:pic>
        <p:nvPicPr>
          <p:cNvPr id="23" name="Content Placeholder 18" descr="Smart Lookup button in context menu">
            <a:extLst>
              <a:ext uri="{FF2B5EF4-FFF2-40B4-BE49-F238E27FC236}">
                <a16:creationId xmlns:a16="http://schemas.microsoft.com/office/drawing/2014/main" id="{89DB987B-D44B-4DAB-BF0B-1710ADD776C3}"/>
              </a:ext>
            </a:extLst>
          </p:cNvPr>
          <p:cNvPicPr>
            <a:picLocks noChangeAspect="1"/>
          </p:cNvPicPr>
          <p:nvPr/>
        </p:nvPicPr>
        <p:blipFill>
          <a:blip r:embed="rId2"/>
          <a:stretch>
            <a:fillRect/>
          </a:stretch>
        </p:blipFill>
        <p:spPr>
          <a:xfrm>
            <a:off x="8762261" y="1771327"/>
            <a:ext cx="2279334" cy="1857699"/>
          </a:xfrm>
          <a:prstGeom prst="rect">
            <a:avLst/>
          </a:prstGeom>
        </p:spPr>
      </p:pic>
    </p:spTree>
    <p:extLst>
      <p:ext uri="{BB962C8B-B14F-4D97-AF65-F5344CB8AC3E}">
        <p14:creationId xmlns:p14="http://schemas.microsoft.com/office/powerpoint/2010/main" val="1683866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4672" y="2404872"/>
            <a:ext cx="3044950" cy="1627792"/>
          </a:xfrm>
        </p:spPr>
        <p:txBody>
          <a:bodyPr>
            <a:normAutofit/>
          </a:bodyPr>
          <a:lstStyle/>
          <a:p>
            <a:r>
              <a:rPr lang="en-US" sz="2200"/>
              <a:t>International Space Station</a:t>
            </a:r>
          </a:p>
        </p:txBody>
      </p:sp>
      <p:sp>
        <p:nvSpPr>
          <p:cNvPr id="3" name="Content Placeholder 2"/>
          <p:cNvSpPr>
            <a:spLocks noGrp="1"/>
          </p:cNvSpPr>
          <p:nvPr>
            <p:ph type="subTitle" idx="1"/>
          </p:nvPr>
        </p:nvSpPr>
        <p:spPr>
          <a:xfrm>
            <a:off x="1121822" y="4352544"/>
            <a:ext cx="2410650" cy="1239894"/>
          </a:xfrm>
        </p:spPr>
        <p:txBody>
          <a:bodyPr>
            <a:normAutofit/>
          </a:bodyPr>
          <a:lstStyle/>
          <a:p>
            <a:endParaRPr sz="1800">
              <a:solidFill>
                <a:srgbClr val="FFFFFF"/>
              </a:solidFill>
            </a:endParaRPr>
          </a:p>
        </p:txBody>
      </p:sp>
      <p:pic>
        <p:nvPicPr>
          <p:cNvPr id="4" name="Picture 3" descr="The International Space Station is featured in this image photographed by an STS-133 crew member on space shuttle Discovery after the station and shuttle began their post-undocking relative separation. Undocking of the two spacecraft occurred at 7 a.m. (EST) on March 7, 2011. Discovery spent eight days, 16 hours, and 46 minutes attached to the orbiting laboratory."/>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4376" y="1193621"/>
            <a:ext cx="6257544" cy="4156052"/>
          </a:xfrm>
          <a:prstGeom prst="rect">
            <a:avLst/>
          </a:prstGeom>
        </p:spPr>
      </p:pic>
      <p:sp>
        <p:nvSpPr>
          <p:cNvPr id="5" name="Footer PlaceHolder 3"/>
          <p:cNvSpPr>
            <a:spLocks noGrp="1"/>
          </p:cNvSpPr>
          <p:nvPr>
            <p:ph type="ftr" sz="quarter" idx="11"/>
          </p:nvPr>
        </p:nvSpPr>
        <p:spPr>
          <a:xfrm>
            <a:off x="804672" y="6224660"/>
            <a:ext cx="3705203" cy="313300"/>
          </a:xfrm>
        </p:spPr>
        <p:txBody>
          <a:bodyPr>
            <a:normAutofit/>
          </a:bodyPr>
          <a:lstStyle/>
          <a:p>
            <a:pPr>
              <a:spcAft>
                <a:spcPts val="600"/>
              </a:spcAft>
            </a:pPr>
            <a:r>
              <a:rPr lang="en-US">
                <a:solidFill>
                  <a:srgbClr val="FFFFFF">
                    <a:alpha val="70000"/>
                  </a:srgbClr>
                </a:solidFill>
                <a:hlinkClick r:id="rId3"/>
              </a:rPr>
              <a:t>Photo</a:t>
            </a:r>
            <a:r>
              <a:rPr lang="en-US">
                <a:solidFill>
                  <a:srgbClr val="FFFFFF">
                    <a:alpha val="70000"/>
                  </a:srgbClr>
                </a:solidFill>
              </a:rPr>
              <a:t> by NASA / Public domain</a:t>
            </a:r>
          </a:p>
        </p:txBody>
      </p:sp>
    </p:spTree>
    <p:extLst>
      <p:ext uri="{BB962C8B-B14F-4D97-AF65-F5344CB8AC3E}">
        <p14:creationId xmlns:p14="http://schemas.microsoft.com/office/powerpoint/2010/main" val="250849861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Contents</a:t>
            </a:r>
          </a:p>
        </p:txBody>
      </p:sp>
      <p:sp>
        <p:nvSpPr>
          <p:cNvPr id="3" name="Content Placeholder 2"/>
          <p:cNvSpPr>
            <a:spLocks noGrp="1"/>
          </p:cNvSpPr>
          <p:nvPr>
            <p:ph type="body" idx="1"/>
          </p:nvPr>
        </p:nvSpPr>
        <p:spPr>
          <a:xfrm>
            <a:off x="5591695" y="1402080"/>
            <a:ext cx="5320696" cy="4053840"/>
          </a:xfrm>
        </p:spPr>
        <p:txBody>
          <a:bodyPr anchor="ctr">
            <a:normAutofit/>
          </a:bodyPr>
          <a:lstStyle/>
          <a:p>
            <a:pPr>
              <a:lnSpc>
                <a:spcPct val="90000"/>
              </a:lnSpc>
            </a:pPr>
            <a:r>
              <a:rPr lang="en-US" sz="1100" dirty="0"/>
              <a:t>Purpose</a:t>
            </a:r>
          </a:p>
          <a:p>
            <a:pPr>
              <a:lnSpc>
                <a:spcPct val="90000"/>
              </a:lnSpc>
            </a:pPr>
            <a:r>
              <a:rPr lang="en-US" sz="1100" dirty="0"/>
              <a:t>Manufacturing</a:t>
            </a:r>
          </a:p>
          <a:p>
            <a:pPr>
              <a:lnSpc>
                <a:spcPct val="90000"/>
              </a:lnSpc>
            </a:pPr>
            <a:r>
              <a:rPr lang="en-US" sz="1100" dirty="0"/>
              <a:t>Assembly</a:t>
            </a:r>
          </a:p>
          <a:p>
            <a:pPr>
              <a:lnSpc>
                <a:spcPct val="90000"/>
              </a:lnSpc>
            </a:pPr>
            <a:r>
              <a:rPr lang="en-US" sz="1100" dirty="0"/>
              <a:t>Structure</a:t>
            </a:r>
          </a:p>
          <a:p>
            <a:pPr>
              <a:lnSpc>
                <a:spcPct val="90000"/>
              </a:lnSpc>
            </a:pPr>
            <a:r>
              <a:rPr lang="en-US" sz="1100" dirty="0"/>
              <a:t>Systems</a:t>
            </a:r>
          </a:p>
          <a:p>
            <a:pPr>
              <a:lnSpc>
                <a:spcPct val="90000"/>
              </a:lnSpc>
            </a:pPr>
            <a:r>
              <a:rPr lang="en-US" sz="1100" dirty="0"/>
              <a:t>Operations</a:t>
            </a:r>
          </a:p>
          <a:p>
            <a:pPr>
              <a:lnSpc>
                <a:spcPct val="90000"/>
              </a:lnSpc>
            </a:pPr>
            <a:r>
              <a:rPr lang="en-US" sz="1100" dirty="0"/>
              <a:t>Mission controls</a:t>
            </a:r>
          </a:p>
          <a:p>
            <a:pPr>
              <a:lnSpc>
                <a:spcPct val="90000"/>
              </a:lnSpc>
            </a:pPr>
            <a:r>
              <a:rPr lang="en-US" sz="1100" dirty="0"/>
              <a:t>Fleet operations</a:t>
            </a:r>
          </a:p>
          <a:p>
            <a:pPr>
              <a:lnSpc>
                <a:spcPct val="90000"/>
              </a:lnSpc>
            </a:pPr>
            <a:r>
              <a:rPr lang="en-US" sz="1100" dirty="0"/>
              <a:t>Life aboard</a:t>
            </a:r>
          </a:p>
          <a:p>
            <a:pPr>
              <a:lnSpc>
                <a:spcPct val="90000"/>
              </a:lnSpc>
            </a:pPr>
            <a:r>
              <a:rPr lang="en-US" sz="1100" dirty="0"/>
              <a:t>Crew health and safety</a:t>
            </a:r>
          </a:p>
          <a:p>
            <a:pPr>
              <a:lnSpc>
                <a:spcPct val="90000"/>
              </a:lnSpc>
            </a:pPr>
            <a:r>
              <a:rPr lang="en-US" sz="1100" dirty="0"/>
              <a:t>Orbital debris threats</a:t>
            </a:r>
          </a:p>
          <a:p>
            <a:pPr>
              <a:lnSpc>
                <a:spcPct val="90000"/>
              </a:lnSpc>
            </a:pPr>
            <a:r>
              <a:rPr lang="en-US" sz="1100" dirty="0"/>
              <a:t>End of mission</a:t>
            </a:r>
          </a:p>
          <a:p>
            <a:pPr>
              <a:lnSpc>
                <a:spcPct val="90000"/>
              </a:lnSpc>
            </a:pPr>
            <a:r>
              <a:rPr lang="en-US" sz="1100" dirty="0"/>
              <a:t>Cost</a:t>
            </a:r>
          </a:p>
          <a:p>
            <a:pPr>
              <a:lnSpc>
                <a:spcPct val="90000"/>
              </a:lnSpc>
            </a:pPr>
            <a:r>
              <a:rPr lang="en-US" sz="1100" dirty="0"/>
              <a:t>Sightings from Earth</a:t>
            </a:r>
          </a:p>
        </p:txBody>
      </p:sp>
    </p:spTree>
    <p:extLst>
      <p:ext uri="{BB962C8B-B14F-4D97-AF65-F5344CB8AC3E}">
        <p14:creationId xmlns:p14="http://schemas.microsoft.com/office/powerpoint/2010/main" val="1942075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Purpose</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A portion of the International Space Station and the docked space shuttle Endeavour is featured in this image photographed by a spacewalker, using a fish-eye lens attached to an electronic still camera, during the STS-134 mission's fourth session of extravehicular activity (EVA). The blackness of space and Earth's horizon provide the backdrop for the scen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272790"/>
            <a:ext cx="6250769" cy="4151552"/>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2489904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1700">
                <a:solidFill>
                  <a:srgbClr val="FFFFFF"/>
                </a:solidFill>
              </a:rPr>
              <a:t>Manufacturing</a:t>
            </a:r>
          </a:p>
        </p:txBody>
      </p:sp>
      <p:sp>
        <p:nvSpPr>
          <p:cNvPr id="3" name="Content Placeholder 2"/>
          <p:cNvSpPr>
            <a:spLocks noGrp="1"/>
          </p:cNvSpPr>
          <p:nvPr>
            <p:ph idx="1"/>
          </p:nvPr>
        </p:nvSpPr>
        <p:spPr>
          <a:xfrm>
            <a:off x="5591695" y="1402080"/>
            <a:ext cx="5320696" cy="4053840"/>
          </a:xfrm>
        </p:spPr>
        <p:txBody>
          <a:bodyPr anchor="ctr">
            <a:normAutofit/>
          </a:bodyPr>
          <a:lstStyle/>
          <a:p>
            <a:endParaRPr/>
          </a:p>
        </p:txBody>
      </p:sp>
    </p:spTree>
    <p:extLst>
      <p:ext uri="{BB962C8B-B14F-4D97-AF65-F5344CB8AC3E}">
        <p14:creationId xmlns:p14="http://schemas.microsoft.com/office/powerpoint/2010/main" val="336404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Assembly</a:t>
            </a:r>
          </a:p>
        </p:txBody>
      </p:sp>
      <p:sp>
        <p:nvSpPr>
          <p:cNvPr id="3" name="Content Placeholder 2"/>
          <p:cNvSpPr>
            <a:spLocks noGrp="1"/>
          </p:cNvSpPr>
          <p:nvPr>
            <p:ph idx="1"/>
          </p:nvPr>
        </p:nvSpPr>
        <p:spPr>
          <a:xfrm>
            <a:off x="5591695" y="1402080"/>
            <a:ext cx="5320696" cy="4053840"/>
          </a:xfrm>
        </p:spPr>
        <p:txBody>
          <a:bodyPr anchor="ctr">
            <a:normAutofit/>
          </a:bodyPr>
          <a:lstStyle/>
          <a:p>
            <a:endParaRPr/>
          </a:p>
        </p:txBody>
      </p:sp>
    </p:spTree>
    <p:extLst>
      <p:ext uri="{BB962C8B-B14F-4D97-AF65-F5344CB8AC3E}">
        <p14:creationId xmlns:p14="http://schemas.microsoft.com/office/powerpoint/2010/main" val="467740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Structure</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USOS International Space Station window identifica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286951"/>
            <a:ext cx="6250769" cy="4123230"/>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Leebrandoncremer / </a:t>
            </a:r>
            <a:r>
              <a:rPr lang="en-US" dirty="0">
                <a:hlinkClick r:id="rId5"/>
              </a:rPr>
              <a:t>CC BY-SA 3.0</a:t>
            </a:r>
          </a:p>
        </p:txBody>
      </p:sp>
    </p:spTree>
    <p:extLst>
      <p:ext uri="{BB962C8B-B14F-4D97-AF65-F5344CB8AC3E}">
        <p14:creationId xmlns:p14="http://schemas.microsoft.com/office/powerpoint/2010/main" val="739356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Systems</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EATCS diagram"/>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388243"/>
            <a:ext cx="6250769" cy="3920647"/>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1565932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Operations</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Russian Soyuz TM-31 moves to Launch Pad, 29 October 200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298835"/>
            <a:ext cx="6250769" cy="4099462"/>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1475822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Mission controls</a:t>
            </a:r>
          </a:p>
        </p:txBody>
      </p:sp>
      <p:sp>
        <p:nvSpPr>
          <p:cNvPr id="3" name="Content Placeholder 2"/>
          <p:cNvSpPr>
            <a:spLocks noGrp="1"/>
          </p:cNvSpPr>
          <p:nvPr>
            <p:ph idx="1"/>
          </p:nvPr>
        </p:nvSpPr>
        <p:spPr>
          <a:xfrm>
            <a:off x="5591695" y="1402080"/>
            <a:ext cx="5320696" cy="4053840"/>
          </a:xfrm>
        </p:spPr>
        <p:txBody>
          <a:bodyPr anchor="ctr">
            <a:normAutofit/>
          </a:bodyPr>
          <a:lstStyle/>
          <a:p>
            <a:r>
              <a:rPr lang="en-US" dirty="0"/>
              <a:t>Look in the slide notes below for topics to consider talking about</a:t>
            </a:r>
          </a:p>
        </p:txBody>
      </p:sp>
    </p:spTree>
    <p:extLst>
      <p:ext uri="{BB962C8B-B14F-4D97-AF65-F5344CB8AC3E}">
        <p14:creationId xmlns:p14="http://schemas.microsoft.com/office/powerpoint/2010/main" val="682308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Fleet operations</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The International Space Station's Canadarm2 grapples the unpiloted Japanese &quot;Kounotori&quot; H2 Transfer Vehicle-4 (HTV-4) as it approaches the station, and will attach it to the Earth-facing port of the station's Harmony node. The HTV-4 is delivering 3.6 tons of science experiments, equipment and supplies to the orbiting complex. Earth's horizon and the blackness of space provide the backdrop for the scen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014946"/>
            <a:ext cx="6250769" cy="4667240"/>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1071337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Life aboard</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Peering out of the window of the International Space Station (ISS), astronaut Greg Chamitoff takes in the planet on which we were all born. About 350 kilometers up, the ISS is high enough so that the Earth's horizon appears clearly curved. Astronaut Chamitoff's window shows some of Earth's complex clouds, in white, and life giving atmosphere and oceans, in blu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280604"/>
            <a:ext cx="6250769" cy="4135925"/>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3097220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Crew health and safety</a:t>
            </a:r>
          </a:p>
        </p:txBody>
      </p:sp>
      <p:sp>
        <p:nvSpPr>
          <p:cNvPr id="3" name="Content Placeholder 2"/>
          <p:cNvSpPr>
            <a:spLocks noGrp="1"/>
          </p:cNvSpPr>
          <p:nvPr>
            <p:ph idx="1"/>
          </p:nvPr>
        </p:nvSpPr>
        <p:spPr>
          <a:xfrm>
            <a:off x="643468" y="2638044"/>
            <a:ext cx="3363974" cy="3415622"/>
          </a:xfrm>
        </p:spPr>
        <p:txBody>
          <a:bodyPr>
            <a:normAutofit/>
          </a:bodyPr>
          <a:lstStyle/>
          <a:p>
            <a:r>
              <a:rPr lang="en-US">
                <a:solidFill>
                  <a:schemeClr val="bg1"/>
                </a:solidFill>
              </a:rPr>
              <a:t>Look in the slide notes below for topics to consider talking about</a:t>
            </a:r>
          </a:p>
        </p:txBody>
      </p:sp>
      <p:pic>
        <p:nvPicPr>
          <p:cNvPr id="4" name="Picture 3" descr="Cosmonaut Nikolai M. Budarin, Expedition Six flight engineer, uses a computer in a sleep station in the Zvezda Service Module on the International Space Station (ISS). Budarin represents Rosaviakosmo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763" y="1273116"/>
            <a:ext cx="6250769" cy="4150901"/>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4"/>
              </a:rPr>
              <a:t>Photo</a:t>
            </a:r>
            <a:r>
              <a:rPr lang="en-US" dirty="0"/>
              <a:t> by NASA / Public domain</a:t>
            </a:r>
          </a:p>
        </p:txBody>
      </p:sp>
    </p:spTree>
    <p:extLst>
      <p:ext uri="{BB962C8B-B14F-4D97-AF65-F5344CB8AC3E}">
        <p14:creationId xmlns:p14="http://schemas.microsoft.com/office/powerpoint/2010/main" val="3642672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Orbital debris threats</a:t>
            </a:r>
          </a:p>
        </p:txBody>
      </p:sp>
      <p:sp>
        <p:nvSpPr>
          <p:cNvPr id="3" name="Content Placeholder 2"/>
          <p:cNvSpPr>
            <a:spLocks noGrp="1"/>
          </p:cNvSpPr>
          <p:nvPr>
            <p:ph idx="1"/>
          </p:nvPr>
        </p:nvSpPr>
        <p:spPr>
          <a:xfrm>
            <a:off x="643468" y="2638044"/>
            <a:ext cx="3363974" cy="3415622"/>
          </a:xfrm>
        </p:spPr>
        <p:txBody>
          <a:bodyPr>
            <a:normAutofit/>
          </a:bodyPr>
          <a:lstStyle/>
          <a:p>
            <a:endParaRPr>
              <a:solidFill>
                <a:schemeClr val="bg1"/>
              </a:solidFill>
            </a:endParaRPr>
          </a:p>
        </p:txBody>
      </p:sp>
      <p:pic>
        <p:nvPicPr>
          <p:cNvPr id="4" name="Picture 3" descr="Debris plot by NAS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7763" y="848259"/>
            <a:ext cx="6250769" cy="5000615"/>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3"/>
              </a:rPr>
              <a:t>Photo</a:t>
            </a:r>
            <a:r>
              <a:rPr lang="en-US" dirty="0"/>
              <a:t> by NASA image / Public domain</a:t>
            </a:r>
          </a:p>
        </p:txBody>
      </p:sp>
    </p:spTree>
    <p:extLst>
      <p:ext uri="{BB962C8B-B14F-4D97-AF65-F5344CB8AC3E}">
        <p14:creationId xmlns:p14="http://schemas.microsoft.com/office/powerpoint/2010/main" val="466915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End of mission</a:t>
            </a:r>
          </a:p>
        </p:txBody>
      </p:sp>
      <p:sp>
        <p:nvSpPr>
          <p:cNvPr id="3" name="Content Placeholder 2"/>
          <p:cNvSpPr>
            <a:spLocks noGrp="1"/>
          </p:cNvSpPr>
          <p:nvPr>
            <p:ph idx="1"/>
          </p:nvPr>
        </p:nvSpPr>
        <p:spPr>
          <a:xfrm>
            <a:off x="643468" y="2638044"/>
            <a:ext cx="3363974" cy="3415622"/>
          </a:xfrm>
        </p:spPr>
        <p:txBody>
          <a:bodyPr>
            <a:normAutofit/>
          </a:bodyPr>
          <a:lstStyle/>
          <a:p>
            <a:endParaRPr>
              <a:solidFill>
                <a:schemeClr val="bg1"/>
              </a:solidFill>
            </a:endParaRPr>
          </a:p>
        </p:txBody>
      </p:sp>
      <p:pic>
        <p:nvPicPr>
          <p:cNvPr id="4" name="Picture 3" descr="After completing its mission to re-supply the International Space Station, the European Space Agency's Jules Verne Automated Transfer Vehicle (ATV) entered the Earth's atmosphere, where researchers captured images of its fiery en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7763" y="1332693"/>
            <a:ext cx="6250769" cy="4031746"/>
          </a:xfrm>
          <a:prstGeom prst="rect">
            <a:avLst/>
          </a:prstGeom>
        </p:spPr>
      </p:pic>
      <p:sp>
        <p:nvSpPr>
          <p:cNvPr id="5" name="Footer PlaceHolder 3"/>
          <p:cNvSpPr>
            <a:spLocks noGrp="1"/>
          </p:cNvSpPr>
          <p:nvPr>
            <p:ph type="ftr" sz="quarter" idx="11"/>
          </p:nvPr>
        </p:nvSpPr>
        <p:spPr>
          <a:xfrm>
            <a:off x="5779007" y="6236208"/>
            <a:ext cx="4776478" cy="320040"/>
          </a:xfrm>
        </p:spPr>
        <p:txBody>
          <a:bodyPr>
            <a:normAutofit/>
          </a:bodyPr>
          <a:lstStyle/>
          <a:p>
            <a:pPr algn="r">
              <a:spcAft>
                <a:spcPts val="600"/>
              </a:spcAft>
            </a:pPr>
            <a:r>
              <a:rPr lang="en-US" dirty="0">
                <a:hlinkClick r:id="rId3"/>
              </a:rPr>
              <a:t>Photo</a:t>
            </a:r>
            <a:r>
              <a:rPr lang="en-US" dirty="0"/>
              <a:t> by NASA/ESA/Bill Moede and Jesse Carpenter / Public domain</a:t>
            </a:r>
          </a:p>
        </p:txBody>
      </p:sp>
    </p:spTree>
    <p:extLst>
      <p:ext uri="{BB962C8B-B14F-4D97-AF65-F5344CB8AC3E}">
        <p14:creationId xmlns:p14="http://schemas.microsoft.com/office/powerpoint/2010/main" val="391866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Cost</a:t>
            </a:r>
          </a:p>
        </p:txBody>
      </p:sp>
      <p:sp>
        <p:nvSpPr>
          <p:cNvPr id="3" name="Content Placeholder 2"/>
          <p:cNvSpPr>
            <a:spLocks noGrp="1"/>
          </p:cNvSpPr>
          <p:nvPr>
            <p:ph idx="1"/>
          </p:nvPr>
        </p:nvSpPr>
        <p:spPr>
          <a:xfrm>
            <a:off x="5591695" y="1402080"/>
            <a:ext cx="5320696" cy="4053840"/>
          </a:xfrm>
        </p:spPr>
        <p:txBody>
          <a:bodyPr anchor="ctr">
            <a:normAutofit/>
          </a:bodyPr>
          <a:lstStyle/>
          <a:p>
            <a:endParaRPr/>
          </a:p>
        </p:txBody>
      </p:sp>
    </p:spTree>
    <p:extLst>
      <p:ext uri="{BB962C8B-B14F-4D97-AF65-F5344CB8AC3E}">
        <p14:creationId xmlns:p14="http://schemas.microsoft.com/office/powerpoint/2010/main" val="1001263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Sightings from Earth</a:t>
            </a:r>
          </a:p>
        </p:txBody>
      </p:sp>
      <p:sp>
        <p:nvSpPr>
          <p:cNvPr id="3" name="Content Placeholder 2"/>
          <p:cNvSpPr>
            <a:spLocks noGrp="1"/>
          </p:cNvSpPr>
          <p:nvPr>
            <p:ph idx="1"/>
          </p:nvPr>
        </p:nvSpPr>
        <p:spPr>
          <a:xfrm>
            <a:off x="5591695" y="1402080"/>
            <a:ext cx="5320696" cy="4053840"/>
          </a:xfrm>
        </p:spPr>
        <p:txBody>
          <a:bodyPr anchor="ctr">
            <a:normAutofit/>
          </a:bodyPr>
          <a:lstStyle/>
          <a:p>
            <a:r>
              <a:rPr lang="en-US" dirty="0"/>
              <a:t>Look in the slide notes below for topics to consider talking about</a:t>
            </a:r>
          </a:p>
        </p:txBody>
      </p:sp>
    </p:spTree>
    <p:extLst>
      <p:ext uri="{BB962C8B-B14F-4D97-AF65-F5344CB8AC3E}">
        <p14:creationId xmlns:p14="http://schemas.microsoft.com/office/powerpoint/2010/main" val="3127291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Works cited</a:t>
            </a:r>
          </a:p>
        </p:txBody>
      </p:sp>
      <p:sp>
        <p:nvSpPr>
          <p:cNvPr id="3" name="Content Placeholder 2"/>
          <p:cNvSpPr>
            <a:spLocks noGrp="1"/>
          </p:cNvSpPr>
          <p:nvPr>
            <p:ph type="body" idx="1"/>
          </p:nvPr>
        </p:nvSpPr>
        <p:spPr>
          <a:xfrm>
            <a:off x="5591695" y="1402080"/>
            <a:ext cx="5320696" cy="4053840"/>
          </a:xfrm>
        </p:spPr>
        <p:txBody>
          <a:bodyPr anchor="ctr">
            <a:normAutofit/>
          </a:bodyPr>
          <a:lstStyle/>
          <a:p>
            <a:endParaRPr/>
          </a:p>
        </p:txBody>
      </p:sp>
    </p:spTree>
    <p:extLst>
      <p:ext uri="{BB962C8B-B14F-4D97-AF65-F5344CB8AC3E}">
        <p14:creationId xmlns:p14="http://schemas.microsoft.com/office/powerpoint/2010/main" val="50951289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QuickStarter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4">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0</TotalTime>
  <Words>549</Words>
  <Application>Microsoft Macintosh PowerPoint</Application>
  <PresentationFormat>Widescreen</PresentationFormat>
  <Paragraphs>125</Paragraphs>
  <Slides>19</Slides>
  <Notes>10</Notes>
  <HiddenSlides>2</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19</vt:i4>
      </vt:variant>
    </vt:vector>
  </HeadingPairs>
  <TitlesOfParts>
    <vt:vector size="31" baseType="lpstr">
      <vt:lpstr>Arial</vt:lpstr>
      <vt:lpstr>Calibri</vt:lpstr>
      <vt:lpstr>Gill Sans MT</vt:lpstr>
      <vt:lpstr>Helvetica</vt:lpstr>
      <vt:lpstr>Helvetica Neue</vt:lpstr>
      <vt:lpstr>Helvetica Neue Light</vt:lpstr>
      <vt:lpstr>Segoe UI</vt:lpstr>
      <vt:lpstr>Segoe UI Light</vt:lpstr>
      <vt:lpstr>Segoe UI Semilight</vt:lpstr>
      <vt:lpstr>Segoe UI Symbol</vt:lpstr>
      <vt:lpstr>Parcel</vt:lpstr>
      <vt:lpstr>QuickStarter Theme</vt:lpstr>
      <vt:lpstr>Here's your outline to get started</vt:lpstr>
      <vt:lpstr>Related topics to research</vt:lpstr>
      <vt:lpstr>International Space Station</vt:lpstr>
      <vt:lpstr>Contents</vt:lpstr>
      <vt:lpstr>Purpose</vt:lpstr>
      <vt:lpstr>Manufacturing</vt:lpstr>
      <vt:lpstr>Assembly</vt:lpstr>
      <vt:lpstr>Structure</vt:lpstr>
      <vt:lpstr>Systems</vt:lpstr>
      <vt:lpstr>Operations</vt:lpstr>
      <vt:lpstr>Mission controls</vt:lpstr>
      <vt:lpstr>Fleet operations</vt:lpstr>
      <vt:lpstr>Life aboard</vt:lpstr>
      <vt:lpstr>Crew health and safety</vt:lpstr>
      <vt:lpstr>Orbital debris threats</vt:lpstr>
      <vt:lpstr>End of mission</vt:lpstr>
      <vt:lpstr>Cost</vt:lpstr>
      <vt:lpstr>Sightings from Earth</vt:lpstr>
      <vt:lpstr>Works cited</vt:lpstr>
    </vt:vector>
  </TitlesOfParts>
  <Company/>
  <LinksUpToDate>false</LinksUpToDate>
  <SharedDoc>false</SharedDoc>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Here's your outline to get started</dc:title>
  <dc:creator>02-243152-007</dc:creator>
  <cp:lastModifiedBy>02-243152-007</cp:lastModifiedBy>
  <cp:revision>1</cp:revision>
  <dcterms:created xsi:type="dcterms:W3CDTF">2021-02-02T07:51:58Z</dcterms:created>
  <dcterms:modified xsi:type="dcterms:W3CDTF">2021-02-02T07:52:40Z</dcterms:modified>
</cp:coreProperties>
</file>