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D26E910-7E27-7E8F-988F-60D149513E86}" name="Ilona Koren" initials="IK" userId="S::Ilonak@infraedge.co.il::b168c2e6-42ed-4652-a009-ad5a2c39863a" providerId="AD"/>
  <p188:author id="{5FFA6823-74D7-6B4A-15C2-44DC0C09D84F}" name="Imri Harlev" initials="" userId="S::ImriH@InfraEdge.co.il::9e814f72-f0f3-48d9-87f1-6ab024d7a9a3" providerId="AD"/>
  <p188:author id="{B9A3B05C-6089-A60D-CA5D-5CB9A8B7ACB5}" name="Ilona Koren" initials="IK" userId="S::ilonak@infraedge.co.il::b168c2e6-42ed-4652-a009-ad5a2c39863a" providerId="AD"/>
  <p188:author id="{9C6B3C76-F3FE-A46E-0286-A9E21C3F2BF9}" name="Imri Harlev" initials="IH" userId="S::imrih@infraedge.co.il::9e814f72-f0f3-48d9-87f1-6ab024d7a9a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16A913-F283-00F4-52CE-8CDC8F21DBBE}" v="68" dt="2026-07-16T12:39:57.845"/>
    <p1510:client id="{9C53FFDB-2259-D80D-4AFF-BE9617F87D22}" v="23" dt="2026-07-16T12:32:36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26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DE444-BBB6-4E27-B17F-798E79A1EA91}" type="datetimeFigureOut"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8E281-B105-4B32-BD6F-A28065B60B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38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DISTINCT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Cross-Network Document Transfer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39136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Plan &amp; Delivery Roadmap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4709160"/>
            <a:ext cx="873252" cy="384048"/>
          </a:xfrm>
          <a:prstGeom prst="roundRect">
            <a:avLst>
              <a:gd name="adj" fmla="val 19048"/>
            </a:avLst>
          </a:prstGeom>
          <a:solidFill>
            <a:srgbClr val="141B45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4709160"/>
            <a:ext cx="8732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906524" y="470916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41B45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06524" y="470916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4.3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4428" y="4709160"/>
            <a:ext cx="1449324" cy="384048"/>
          </a:xfrm>
          <a:prstGeom prst="roundRect">
            <a:avLst>
              <a:gd name="adj" fmla="val 19048"/>
            </a:avLst>
          </a:prstGeom>
          <a:solidFill>
            <a:srgbClr val="141B45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4428" y="4709160"/>
            <a:ext cx="1449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38344" y="4709160"/>
            <a:ext cx="1065276" cy="384048"/>
          </a:xfrm>
          <a:prstGeom prst="roundRect">
            <a:avLst>
              <a:gd name="adj" fmla="val 19048"/>
            </a:avLst>
          </a:prstGeom>
          <a:solidFill>
            <a:srgbClr val="141B45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38344" y="4709160"/>
            <a:ext cx="10652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8212" y="4709160"/>
            <a:ext cx="1449324" cy="384048"/>
          </a:xfrm>
          <a:prstGeom prst="roundRect">
            <a:avLst>
              <a:gd name="adj" fmla="val 19048"/>
            </a:avLst>
          </a:prstGeom>
          <a:solidFill>
            <a:srgbClr val="141B45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8212" y="4709160"/>
            <a:ext cx="1449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Technical Management Review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five milestones, four people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· 4 Program Increments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371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2900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milestones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6364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— 2 backend, 1 automation, 1 DevOps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0" y="1234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0" y="13716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28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end-to-end flow live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11274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moves documents between two segregated networks through a sanitizing Proxy, converting and splitting files per-format on the way out and reassembling them on the way in. This plan rebuilds the reliability core around a Postgres-native claim / heartbeat / outbox pattern in place of the current Temporal-based POC, proves out the simplest possible end-to-end path first, and then layers in format conversion, per-format autoscaling, VIP prioritization, and full OpenTelemetry observability — with every engineer pairing with Claude Code to keep a four-person team moving on parallel tracks across two networks and a platform layer.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5074920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Milestone 1: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.txt file, submitted once, travels Network A → Proxy → Network B and back with zero conversion or splitting logic in the way — proving the reliability core before any transformation complexity is added.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— Development Plan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first, and what deliberately waits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FOR V1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93392"/>
            <a:ext cx="256032" cy="256032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920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ingestion, per-format split &amp; convert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50592"/>
            <a:ext cx="256032" cy="256032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3774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Reassembly + reverse-convert in Network 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256032" cy="256032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2834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6314A"/>
                </a:solidFill>
                <a:latin typeface="Calibri"/>
                <a:ea typeface="Calibri"/>
                <a:cs typeface="Calibri"/>
              </a:rPr>
              <a:t>Per-client folder </a:t>
            </a:r>
          </a:p>
        </p:txBody>
      </p:sp>
      <p:sp>
        <p:nvSpPr>
          <p:cNvPr id="15" name="Shape 13"/>
          <p:cNvSpPr/>
          <p:nvPr/>
        </p:nvSpPr>
        <p:spPr>
          <a:xfrm>
            <a:off x="502920" y="3364992"/>
            <a:ext cx="256032" cy="256032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355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32918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14A"/>
                </a:solidFill>
                <a:latin typeface="Calibri"/>
                <a:ea typeface="Calibri"/>
                <a:cs typeface="Calibri"/>
              </a:rPr>
              <a:t>VIP-client </a:t>
            </a:r>
            <a:r>
              <a:rPr lang="en-US" sz="1300">
                <a:solidFill>
                  <a:srgbClr val="26314A"/>
                </a:solidFill>
                <a:latin typeface="Calibri"/>
                <a:ea typeface="Calibri"/>
                <a:cs typeface="Calibri"/>
              </a:rPr>
              <a:t>priority queueing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3822192"/>
            <a:ext cx="256032" cy="256032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3749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6314A"/>
                </a:solidFill>
                <a:latin typeface="Calibri"/>
                <a:ea typeface="Calibri"/>
                <a:cs typeface="Calibri"/>
              </a:rPr>
              <a:t>CSV reporting </a:t>
            </a:r>
          </a:p>
        </p:txBody>
      </p:sp>
      <p:sp>
        <p:nvSpPr>
          <p:cNvPr id="21" name="Shape 19"/>
          <p:cNvSpPr/>
          <p:nvPr/>
        </p:nvSpPr>
        <p:spPr>
          <a:xfrm>
            <a:off x="502920" y="4279392"/>
            <a:ext cx="256032" cy="256032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270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4206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metrics &amp; distributed tracing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736592"/>
            <a:ext cx="256032" cy="256032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6112" y="46634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Crash-safe reliability core on OpenShift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1325880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6B75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 V1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55080" y="1993392"/>
            <a:ext cx="256032" cy="256032"/>
          </a:xfrm>
          <a:prstGeom prst="ellipse">
            <a:avLst/>
          </a:prstGeom>
          <a:solidFill>
            <a:srgbClr val="6B75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55080" y="1947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48272" y="1920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facing UI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2450592"/>
            <a:ext cx="256032" cy="256032"/>
          </a:xfrm>
          <a:prstGeom prst="ellipse">
            <a:avLst/>
          </a:prstGeom>
          <a:solidFill>
            <a:srgbClr val="6B75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48272" y="23774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logging UI / log search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55080" y="2907792"/>
            <a:ext cx="256032" cy="256032"/>
          </a:xfrm>
          <a:prstGeom prst="ellipse">
            <a:avLst/>
          </a:prstGeom>
          <a:solidFill>
            <a:srgbClr val="6B75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55080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48272" y="28346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tiers beyond client-provided values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55080" y="3364992"/>
            <a:ext cx="256032" cy="256032"/>
          </a:xfrm>
          <a:prstGeom prst="ellipse">
            <a:avLst/>
          </a:prstGeom>
          <a:solidFill>
            <a:srgbClr val="6B75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55080" y="3319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48272" y="32918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or feature requirements not yet specified by the client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— Development Plan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OF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assumptions that shape how we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1848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563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(SDD) with BMAD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starts as a structured spec — requirements, data model, contracts, quickstart — before implementation, worked through the BMAD-METHOD's agent roles (Analyst → PM → Architect → Dev → QA) with Claude Code. Adoption ramps in parallel with the team's existing workflow to manage the learning curve.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161848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1563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From the First Deliverable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21488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traces are wired into Milestone 1's thin slice, not bolted on later. Every subsequent milestone extends the same instrumentation instead of retrofitting it — observability is a day-one requirement, not an afterthought bolted on at go-live.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399592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3B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9410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Testing Is Continuous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5800" y="452628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Fault-injection and crash-recovery tests run in CI from Milestone 2 onward, not as a one-time validation gate. Every change to the reliability core — claim/heartbeat, sweeper, outbox — is proven against worker crashes before it ships.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399592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9410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— Design Through Implementation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452628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used across the full lifecycle, not just as a coding assistant bolted on at the end. Architecture trade-offs, spec authoring, implementation, code review, and test generation all run through the same AI-assisted loop, so design and build stay in lockstep instead of handing off between them.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— Development Plan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milestones across four Program Increments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34440" y="2240280"/>
            <a:ext cx="548640" cy="548640"/>
          </a:xfrm>
          <a:prstGeom prst="ellipse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344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1 · Wk 1–3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3246120"/>
            <a:ext cx="182880" cy="0"/>
          </a:xfrm>
          <a:prstGeom prst="line">
            <a:avLst/>
          </a:prstGeom>
          <a:noFill/>
          <a:ln w="19050">
            <a:solidFill>
              <a:srgbClr val="6B759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0" y="187452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E8A93B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947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FLAGSHIP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20440" y="2240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2926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Text Flow + Priority &amp; VIP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1-2 · Wk 4–9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246120"/>
            <a:ext cx="182880" cy="0"/>
          </a:xfrm>
          <a:prstGeom prst="line">
            <a:avLst/>
          </a:prstGeom>
          <a:noFill/>
          <a:ln w="19050">
            <a:solidFill>
              <a:srgbClr val="6B759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0" y="187452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06440" y="2240280"/>
            <a:ext cx="548640" cy="548640"/>
          </a:xfrm>
          <a:prstGeom prst="ellipse">
            <a:avLst/>
          </a:prstGeom>
          <a:solidFill>
            <a:srgbClr val="3B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064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0640" y="2926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2-3 · Wk 9–15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3246120"/>
            <a:ext cx="182880" cy="0"/>
          </a:xfrm>
          <a:prstGeom prst="line">
            <a:avLst/>
          </a:prstGeom>
          <a:noFill/>
          <a:ln w="19050">
            <a:solidFill>
              <a:srgbClr val="6B759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0" y="187452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92440" y="2240280"/>
            <a:ext cx="548640" cy="548640"/>
          </a:xfrm>
          <a:prstGeom prst="ellipse">
            <a:avLst/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924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06640" y="2926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&amp; Scaling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0664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3 · Wk 13–18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18320" y="3246120"/>
            <a:ext cx="182880" cy="0"/>
          </a:xfrm>
          <a:prstGeom prst="line">
            <a:avLst/>
          </a:prstGeom>
          <a:noFill/>
          <a:ln w="19050">
            <a:solidFill>
              <a:srgbClr val="6B759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601200" y="187452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378440" y="2240280"/>
            <a:ext cx="548640" cy="548640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3784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92640" y="2926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Go-Live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9264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3-4 · Wk 17–21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93776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" y="4937760"/>
            <a:ext cx="10725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can overlap by design — reliability hardening (M2) and per-format scaling (M3) share sprint boundaries, and M3 is still finishing as M4 begins. The detailed Gantt on a later slide shows exact task-level dependencies.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— Development Plan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M1  ·  WEEKS 4–9  ·  PI 1–2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2401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full path end-to-end before adding any transformation complexity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DELIVERED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2631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96596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API accepts a job containing plain .txt files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52923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246888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/ decision node recognizes “no conversion or split needed” and takes the pass-through path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3215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297180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/>
                <a:ea typeface="Calibri"/>
                <a:cs typeface="Calibri"/>
              </a:rPr>
              <a:t>Reliability Core (claim →complete + transactional outbox) live for this thin slice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920" y="353507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" y="347472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Listener → Assembly → Reverse-Converter (no-op) → Reporting Worker → callback, deployed to OpenShift dev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837465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4689673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>
                <a:solidFill>
                  <a:srgbClr val="26314A"/>
                </a:solidFill>
                <a:latin typeface="Calibri"/>
                <a:ea typeface="Calibri"/>
                <a:cs typeface="Calibri"/>
              </a:rPr>
              <a:t>Priority queue infrastructure in RabbitMQ 4.3</a:t>
            </a:r>
          </a:p>
        </p:txBody>
      </p:sp>
      <p:sp>
        <p:nvSpPr>
          <p:cNvPr id="15" name="Shape 13"/>
          <p:cNvSpPr/>
          <p:nvPr/>
        </p:nvSpPr>
        <p:spPr>
          <a:xfrm>
            <a:off x="502920" y="5340385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6112" y="5186347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VIP-client tagging end-to-end, from ingestion through reporting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743371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" y="5595579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SLA and timeout ingestion from client-provided configuration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614011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" y="5986072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26314A"/>
                </a:solidFill>
                <a:latin typeface="Calibri"/>
                <a:ea typeface="Calibri"/>
                <a:cs typeface="Calibri"/>
              </a:rPr>
              <a:t>Baseline internal </a:t>
            </a:r>
            <a:r>
              <a:rPr lang="en-US" sz="1250" dirty="0" err="1">
                <a:solidFill>
                  <a:srgbClr val="26314A"/>
                </a:solidFill>
                <a:latin typeface="Calibri"/>
                <a:ea typeface="Calibri"/>
                <a:cs typeface="Calibri"/>
              </a:rPr>
              <a:t>OpenTelemetry</a:t>
            </a:r>
            <a:r>
              <a:rPr lang="en-US" sz="1250" dirty="0">
                <a:solidFill>
                  <a:srgbClr val="26314A"/>
                </a:solidFill>
                <a:latin typeface="Calibri"/>
                <a:ea typeface="Calibri"/>
                <a:cs typeface="Calibri"/>
              </a:rPr>
              <a:t> metrics and traces across the whole path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178040" y="1965960"/>
            <a:ext cx="4553712" cy="3977640"/>
          </a:xfrm>
          <a:prstGeom prst="roundRect">
            <a:avLst>
              <a:gd name="adj" fmla="val 2069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52360" y="2194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/ DEMO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52360" y="260604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.txt job submitted to Network A is reassembled, reported (CSV), and acknowledged back to Network A.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VIP job submitted alongside a backlog of standard jobs is processed ahead of the queue, and per-client SLA/timeout values are enforced.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end-to-end in OpenTelemetry.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Demoed live at the Sprint 3 review.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— Development Plan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9E6E1A5C-A1B6-E0E5-6939-F59571E11AEE}"/>
              </a:ext>
            </a:extLst>
          </p:cNvPr>
          <p:cNvSpPr/>
          <p:nvPr/>
        </p:nvSpPr>
        <p:spPr>
          <a:xfrm>
            <a:off x="898610" y="3875707"/>
            <a:ext cx="59893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Relay hardened for the post-commit-crash path</a:t>
            </a:r>
            <a:endParaRPr lang="en-US" sz="125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DD27415A-4DDE-E947-B35A-44EB1388AF60}"/>
              </a:ext>
            </a:extLst>
          </p:cNvPr>
          <p:cNvSpPr/>
          <p:nvPr/>
        </p:nvSpPr>
        <p:spPr>
          <a:xfrm>
            <a:off x="502920" y="410969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A3049575-4FDD-80F3-A84C-EC3C2BB30A90}"/>
              </a:ext>
            </a:extLst>
          </p:cNvPr>
          <p:cNvSpPr/>
          <p:nvPr/>
        </p:nvSpPr>
        <p:spPr>
          <a:xfrm>
            <a:off x="896112" y="4208738"/>
            <a:ext cx="59893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Mini-manifest-written-before-commit pattern on Network A</a:t>
            </a:r>
            <a:endParaRPr lang="en-US" sz="1250" dirty="0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8EA2A3F8-A01A-05E6-CF95-3664D1951E2E}"/>
              </a:ext>
            </a:extLst>
          </p:cNvPr>
          <p:cNvSpPr/>
          <p:nvPr/>
        </p:nvSpPr>
        <p:spPr>
          <a:xfrm>
            <a:off x="502919" y="444697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M2  ·  WEEKS 9–15  ·  PI 2–3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reliability core survive real failures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DELIVERED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46427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835363"/>
            <a:ext cx="59893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Sweeper service for stale, crashed-worker job recovery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6674" y="2656777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9866" y="2492657"/>
            <a:ext cx="59893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exception framework: transient retries via TTL/DLX, permanent failures via dead queue and DLQ consumers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6674" y="3327337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" y="3108210"/>
            <a:ext cx="59893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Mini-manifest-written-before-commit pattern on Network 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6674" y="3997897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3832415"/>
            <a:ext cx="59893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status rollup (Completed / CompletedPartially / Failed) and a 30-minute timeout sweeper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96674" y="4668457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3B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9866" y="4433761"/>
            <a:ext cx="59893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test suite that kills workers mid-job and asserts recovery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71794" y="1235190"/>
            <a:ext cx="4553712" cy="3977640"/>
          </a:xfrm>
          <a:prstGeom prst="roundRect">
            <a:avLst>
              <a:gd name="adj" fmla="val 2069"/>
            </a:avLst>
          </a:prstGeom>
          <a:solidFill>
            <a:srgbClr val="3B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52360" y="2194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/ DEMO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52360" y="260604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Killing a worker at any point in the pipeline — mid-claim, post-commit — results in automatic recovery within the design SLAs (~90s via the sweeper, ~500ms via the outbox relay), proven by automated chaos tests running in CI.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— Development Plan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E5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M3  ·  WEEKS 13–18  ·  PI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8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real conversion and splitting without letting heavy formats stall fast 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DELIVERED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62521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801368"/>
            <a:ext cx="5989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Docx, image, and media splitters/converters split out as independent per-format microservices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867193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2569464"/>
            <a:ext cx="5989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Per-format horizontal pod autoscaling on OpenShift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671865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3429000"/>
            <a:ext cx="5989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5-subflow Proxy Listener: out-of-order chunk/manifest buffering, inline drain, and error sentinels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476537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" y="4206240"/>
            <a:ext cx="5989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folder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5281209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4984548"/>
            <a:ext cx="5989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Linear-vs-decision-tree routing benchmark with a data-backed recommendation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78040" y="1965960"/>
            <a:ext cx="4553712" cy="3977640"/>
          </a:xfrm>
          <a:prstGeom prst="roundRect">
            <a:avLst>
              <a:gd name="adj" fmla="val 2069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52360" y="2194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/ DEMO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52360" y="260604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 batch of PDF, DOCX, image, and media files completes with fast formats unaffected by a backlog of slow ones, and chunk/manifest arrival order is proven not to matter to the outcome.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— Development Plan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M4  ·  WEEKS 17–21  ·  PI 3–4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13729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Production-harden the platform and cut over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DELIVERED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464125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2240280"/>
            <a:ext cx="5989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OpenTelemetry metrics/traces/logs pipeline with dashboards and alert thresholds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96265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6112" y="2713390"/>
            <a:ext cx="5989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performance testing at target monthly job volume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78040" y="1965960"/>
            <a:ext cx="4553712" cy="3977640"/>
          </a:xfrm>
          <a:prstGeom prst="roundRect">
            <a:avLst>
              <a:gd name="adj" fmla="val 2069"/>
            </a:avLst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52360" y="2194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/ DEMO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2360" y="260604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sustains target monthly job volume within SLA under load test, alerts fire correctly during a DR drill, and UAT is signed off by stakeholders ahead of go-live.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— Development Plan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&amp; PI Gantt — 21 Weeks Across 4 Program Increments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434840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19/7</a:t>
            </a:r>
            <a:endParaRPr lang="en-US" sz="560" dirty="0"/>
          </a:p>
        </p:txBody>
      </p:sp>
      <p:sp>
        <p:nvSpPr>
          <p:cNvPr id="5" name="Text 3"/>
          <p:cNvSpPr/>
          <p:nvPr/>
        </p:nvSpPr>
        <p:spPr>
          <a:xfrm>
            <a:off x="4781006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26/7</a:t>
            </a:r>
            <a:endParaRPr lang="en-US" sz="560" dirty="0"/>
          </a:p>
        </p:txBody>
      </p:sp>
      <p:sp>
        <p:nvSpPr>
          <p:cNvPr id="6" name="Text 4"/>
          <p:cNvSpPr/>
          <p:nvPr/>
        </p:nvSpPr>
        <p:spPr>
          <a:xfrm>
            <a:off x="5127171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560" dirty="0"/>
          </a:p>
        </p:txBody>
      </p:sp>
      <p:sp>
        <p:nvSpPr>
          <p:cNvPr id="7" name="Text 5"/>
          <p:cNvSpPr/>
          <p:nvPr/>
        </p:nvSpPr>
        <p:spPr>
          <a:xfrm>
            <a:off x="5473337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9/8</a:t>
            </a:r>
            <a:endParaRPr lang="en-US" sz="560" dirty="0"/>
          </a:p>
        </p:txBody>
      </p:sp>
      <p:sp>
        <p:nvSpPr>
          <p:cNvPr id="8" name="Text 6"/>
          <p:cNvSpPr/>
          <p:nvPr/>
        </p:nvSpPr>
        <p:spPr>
          <a:xfrm>
            <a:off x="5819503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16/8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6165669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23/8</a:t>
            </a:r>
            <a:endParaRPr lang="en-US" sz="560" dirty="0"/>
          </a:p>
        </p:txBody>
      </p:sp>
      <p:sp>
        <p:nvSpPr>
          <p:cNvPr id="10" name="Text 8"/>
          <p:cNvSpPr/>
          <p:nvPr/>
        </p:nvSpPr>
        <p:spPr>
          <a:xfrm>
            <a:off x="6511834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30/8</a:t>
            </a:r>
            <a:endParaRPr lang="en-US" sz="560" dirty="0"/>
          </a:p>
        </p:txBody>
      </p:sp>
      <p:sp>
        <p:nvSpPr>
          <p:cNvPr id="11" name="Text 9"/>
          <p:cNvSpPr/>
          <p:nvPr/>
        </p:nvSpPr>
        <p:spPr>
          <a:xfrm>
            <a:off x="6858000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6/9</a:t>
            </a:r>
            <a:endParaRPr lang="en-US" sz="560" dirty="0"/>
          </a:p>
        </p:txBody>
      </p:sp>
      <p:sp>
        <p:nvSpPr>
          <p:cNvPr id="12" name="Text 10"/>
          <p:cNvSpPr/>
          <p:nvPr/>
        </p:nvSpPr>
        <p:spPr>
          <a:xfrm>
            <a:off x="7204166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13/9</a:t>
            </a:r>
            <a:endParaRPr lang="en-US" sz="560" dirty="0"/>
          </a:p>
        </p:txBody>
      </p:sp>
      <p:sp>
        <p:nvSpPr>
          <p:cNvPr id="13" name="Text 11"/>
          <p:cNvSpPr/>
          <p:nvPr/>
        </p:nvSpPr>
        <p:spPr>
          <a:xfrm>
            <a:off x="7550331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20/9</a:t>
            </a:r>
            <a:endParaRPr lang="en-US" sz="560" dirty="0"/>
          </a:p>
        </p:txBody>
      </p:sp>
      <p:sp>
        <p:nvSpPr>
          <p:cNvPr id="14" name="Text 12"/>
          <p:cNvSpPr/>
          <p:nvPr/>
        </p:nvSpPr>
        <p:spPr>
          <a:xfrm>
            <a:off x="7896497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27/9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8242663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560" dirty="0"/>
          </a:p>
        </p:txBody>
      </p:sp>
      <p:sp>
        <p:nvSpPr>
          <p:cNvPr id="16" name="Text 14"/>
          <p:cNvSpPr/>
          <p:nvPr/>
        </p:nvSpPr>
        <p:spPr>
          <a:xfrm>
            <a:off x="8588829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11/10</a:t>
            </a:r>
            <a:endParaRPr lang="en-US" sz="560" dirty="0"/>
          </a:p>
        </p:txBody>
      </p:sp>
      <p:sp>
        <p:nvSpPr>
          <p:cNvPr id="17" name="Text 15"/>
          <p:cNvSpPr/>
          <p:nvPr/>
        </p:nvSpPr>
        <p:spPr>
          <a:xfrm>
            <a:off x="8934994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18/10</a:t>
            </a:r>
            <a:endParaRPr lang="en-US" sz="560" dirty="0"/>
          </a:p>
        </p:txBody>
      </p:sp>
      <p:sp>
        <p:nvSpPr>
          <p:cNvPr id="18" name="Text 16"/>
          <p:cNvSpPr/>
          <p:nvPr/>
        </p:nvSpPr>
        <p:spPr>
          <a:xfrm>
            <a:off x="9281160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25/10</a:t>
            </a:r>
            <a:endParaRPr lang="en-US" sz="560" dirty="0"/>
          </a:p>
        </p:txBody>
      </p:sp>
      <p:sp>
        <p:nvSpPr>
          <p:cNvPr id="19" name="Text 17"/>
          <p:cNvSpPr/>
          <p:nvPr/>
        </p:nvSpPr>
        <p:spPr>
          <a:xfrm>
            <a:off x="9627326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1/11</a:t>
            </a:r>
            <a:endParaRPr lang="en-US" sz="560" dirty="0"/>
          </a:p>
        </p:txBody>
      </p:sp>
      <p:sp>
        <p:nvSpPr>
          <p:cNvPr id="20" name="Text 18"/>
          <p:cNvSpPr/>
          <p:nvPr/>
        </p:nvSpPr>
        <p:spPr>
          <a:xfrm>
            <a:off x="9973491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8/11</a:t>
            </a:r>
            <a:endParaRPr lang="en-US" sz="560" dirty="0"/>
          </a:p>
        </p:txBody>
      </p:sp>
      <p:sp>
        <p:nvSpPr>
          <p:cNvPr id="21" name="Text 19"/>
          <p:cNvSpPr/>
          <p:nvPr/>
        </p:nvSpPr>
        <p:spPr>
          <a:xfrm>
            <a:off x="10319657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15/11</a:t>
            </a:r>
            <a:endParaRPr lang="en-US" sz="560" dirty="0"/>
          </a:p>
        </p:txBody>
      </p:sp>
      <p:sp>
        <p:nvSpPr>
          <p:cNvPr id="22" name="Text 20"/>
          <p:cNvSpPr/>
          <p:nvPr/>
        </p:nvSpPr>
        <p:spPr>
          <a:xfrm>
            <a:off x="10665823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22/11</a:t>
            </a:r>
            <a:endParaRPr lang="en-US" sz="560" dirty="0"/>
          </a:p>
        </p:txBody>
      </p:sp>
      <p:sp>
        <p:nvSpPr>
          <p:cNvPr id="23" name="Text 21"/>
          <p:cNvSpPr/>
          <p:nvPr/>
        </p:nvSpPr>
        <p:spPr>
          <a:xfrm>
            <a:off x="11011989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29/11</a:t>
            </a:r>
            <a:endParaRPr lang="en-US" sz="560" dirty="0"/>
          </a:p>
        </p:txBody>
      </p:sp>
      <p:sp>
        <p:nvSpPr>
          <p:cNvPr id="24" name="Text 22"/>
          <p:cNvSpPr/>
          <p:nvPr/>
        </p:nvSpPr>
        <p:spPr>
          <a:xfrm>
            <a:off x="11358154" y="768096"/>
            <a:ext cx="3461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6/12</a:t>
            </a:r>
            <a:endParaRPr lang="en-US" sz="560" dirty="0"/>
          </a:p>
        </p:txBody>
      </p:sp>
      <p:sp>
        <p:nvSpPr>
          <p:cNvPr id="25" name="Shape 23"/>
          <p:cNvSpPr/>
          <p:nvPr/>
        </p:nvSpPr>
        <p:spPr>
          <a:xfrm>
            <a:off x="4434840" y="932688"/>
            <a:ext cx="2076994" cy="164592"/>
          </a:xfrm>
          <a:prstGeom prst="rect">
            <a:avLst/>
          </a:prstGeom>
          <a:solidFill>
            <a:srgbClr val="E9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34840" y="932688"/>
            <a:ext cx="2076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11834" y="932688"/>
            <a:ext cx="207699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11834" y="932688"/>
            <a:ext cx="2076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88829" y="932688"/>
            <a:ext cx="2076994" cy="164592"/>
          </a:xfrm>
          <a:prstGeom prst="rect">
            <a:avLst/>
          </a:prstGeom>
          <a:solidFill>
            <a:srgbClr val="E9EC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88829" y="932688"/>
            <a:ext cx="2076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665823" y="932688"/>
            <a:ext cx="1038497" cy="1645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665823" y="932688"/>
            <a:ext cx="10384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932688"/>
            <a:ext cx="11338560" cy="0"/>
          </a:xfrm>
          <a:prstGeom prst="line">
            <a:avLst/>
          </a:prstGeom>
          <a:noFill/>
          <a:ln w="9525">
            <a:solidFill>
              <a:srgbClr val="C7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1097280"/>
            <a:ext cx="11338560" cy="1304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" y="1097280"/>
            <a:ext cx="1600200" cy="130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DevOps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11680" y="1097280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CI &amp; OpenShift Foundations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4434840" y="1123366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8A9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011680" y="1260318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4.3 Topology (DLX/Retry)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4781006" y="1286404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8A9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011680" y="1423355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16 Schema Baseline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4781006" y="1449441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8A9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011680" y="1586393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Skeleton (Collector) + Prometheus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5473337" y="1612479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011680" y="1749430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Auto-Deploy Pipeline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5473337" y="1775516"/>
            <a:ext cx="1384663" cy="110866"/>
          </a:xfrm>
          <a:prstGeom prst="roundRect">
            <a:avLst>
              <a:gd name="adj" fmla="val 1237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011680" y="1912468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Infrastructure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6511834" y="1938554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011680" y="2075505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Per-Format Autoscaling (HPA)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8588829" y="2101591"/>
            <a:ext cx="1384663" cy="110866"/>
          </a:xfrm>
          <a:prstGeom prst="roundRect">
            <a:avLst>
              <a:gd name="adj" fmla="val 12372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011680" y="2238543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DR Hardening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9973491" y="2264629"/>
            <a:ext cx="1730829" cy="110866"/>
          </a:xfrm>
          <a:prstGeom prst="roundRect">
            <a:avLst>
              <a:gd name="adj" fmla="val 12372"/>
            </a:avLst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65760" y="2401580"/>
            <a:ext cx="11338560" cy="1304300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84048" y="2401580"/>
            <a:ext cx="1600200" cy="130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Network A / Reliability Core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011680" y="2401580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(CAS) Library</a:t>
            </a:r>
            <a:endParaRPr lang="en-US" sz="730" dirty="0"/>
          </a:p>
        </p:txBody>
      </p:sp>
      <p:sp>
        <p:nvSpPr>
          <p:cNvPr id="55" name="Shape 53"/>
          <p:cNvSpPr/>
          <p:nvPr/>
        </p:nvSpPr>
        <p:spPr>
          <a:xfrm>
            <a:off x="5473337" y="2427666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011680" y="2564618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API + Routing Node</a:t>
            </a:r>
            <a:endParaRPr lang="en-US" sz="730" dirty="0"/>
          </a:p>
        </p:txBody>
      </p:sp>
      <p:sp>
        <p:nvSpPr>
          <p:cNvPr id="57" name="Shape 55"/>
          <p:cNvSpPr/>
          <p:nvPr/>
        </p:nvSpPr>
        <p:spPr>
          <a:xfrm>
            <a:off x="5819503" y="2590704"/>
            <a:ext cx="1384663" cy="110866"/>
          </a:xfrm>
          <a:prstGeom prst="roundRect">
            <a:avLst>
              <a:gd name="adj" fmla="val 1237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011680" y="2727655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Outbox + Relay</a:t>
            </a:r>
            <a:endParaRPr lang="en-US" sz="730" dirty="0"/>
          </a:p>
        </p:txBody>
      </p:sp>
      <p:sp>
        <p:nvSpPr>
          <p:cNvPr id="59" name="Shape 57"/>
          <p:cNvSpPr/>
          <p:nvPr/>
        </p:nvSpPr>
        <p:spPr>
          <a:xfrm>
            <a:off x="6165669" y="2753741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011680" y="2890693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SLA/Timeout Ingestion</a:t>
            </a:r>
            <a:endParaRPr lang="en-US" sz="730" dirty="0"/>
          </a:p>
        </p:txBody>
      </p:sp>
      <p:sp>
        <p:nvSpPr>
          <p:cNvPr id="61" name="Shape 59"/>
          <p:cNvSpPr/>
          <p:nvPr/>
        </p:nvSpPr>
        <p:spPr>
          <a:xfrm>
            <a:off x="6511834" y="2916779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011680" y="3053730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Tagging &amp; Priority Routing</a:t>
            </a:r>
            <a:endParaRPr lang="en-US" sz="730" dirty="0"/>
          </a:p>
        </p:txBody>
      </p:sp>
      <p:sp>
        <p:nvSpPr>
          <p:cNvPr id="63" name="Shape 61"/>
          <p:cNvSpPr/>
          <p:nvPr/>
        </p:nvSpPr>
        <p:spPr>
          <a:xfrm>
            <a:off x="6858000" y="3079816"/>
            <a:ext cx="692331" cy="110866"/>
          </a:xfrm>
          <a:prstGeom prst="roundRect">
            <a:avLst>
              <a:gd name="adj" fmla="val 1237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011680" y="3216768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Loop + Sweeper (Crash Recovery)</a:t>
            </a:r>
            <a:endParaRPr lang="en-US" sz="730" dirty="0"/>
          </a:p>
        </p:txBody>
      </p:sp>
      <p:sp>
        <p:nvSpPr>
          <p:cNvPr id="65" name="Shape 63"/>
          <p:cNvSpPr/>
          <p:nvPr/>
        </p:nvSpPr>
        <p:spPr>
          <a:xfrm>
            <a:off x="7204166" y="3242854"/>
            <a:ext cx="1384663" cy="110866"/>
          </a:xfrm>
          <a:prstGeom prst="roundRect">
            <a:avLst>
              <a:gd name="adj" fmla="val 12372"/>
            </a:avLst>
          </a:prstGeom>
          <a:solidFill>
            <a:srgbClr val="3B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011680" y="3379805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Framework (Retry/DLQ)</a:t>
            </a:r>
            <a:endParaRPr lang="en-US" sz="730" dirty="0"/>
          </a:p>
        </p:txBody>
      </p:sp>
      <p:sp>
        <p:nvSpPr>
          <p:cNvPr id="67" name="Shape 65"/>
          <p:cNvSpPr/>
          <p:nvPr/>
        </p:nvSpPr>
        <p:spPr>
          <a:xfrm>
            <a:off x="7204166" y="3405891"/>
            <a:ext cx="1384663" cy="110866"/>
          </a:xfrm>
          <a:prstGeom prst="roundRect">
            <a:avLst>
              <a:gd name="adj" fmla="val 12372"/>
            </a:avLst>
          </a:prstGeom>
          <a:solidFill>
            <a:srgbClr val="3B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011680" y="3542843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Rollup + Timeout Sweeper</a:t>
            </a:r>
            <a:endParaRPr lang="en-US" sz="730" dirty="0"/>
          </a:p>
        </p:txBody>
      </p:sp>
      <p:sp>
        <p:nvSpPr>
          <p:cNvPr id="69" name="Shape 67"/>
          <p:cNvSpPr/>
          <p:nvPr/>
        </p:nvSpPr>
        <p:spPr>
          <a:xfrm>
            <a:off x="8242663" y="3568929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3B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65760" y="3705880"/>
            <a:ext cx="11338560" cy="1304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84048" y="3705880"/>
            <a:ext cx="1600200" cy="130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Proxy / Network B / File Processing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011680" y="3705880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Listener Skeleton</a:t>
            </a:r>
            <a:endParaRPr lang="en-US" sz="730" dirty="0"/>
          </a:p>
        </p:txBody>
      </p:sp>
      <p:sp>
        <p:nvSpPr>
          <p:cNvPr id="73" name="Shape 71"/>
          <p:cNvSpPr/>
          <p:nvPr/>
        </p:nvSpPr>
        <p:spPr>
          <a:xfrm>
            <a:off x="5819503" y="3731966"/>
            <a:ext cx="1384663" cy="110866"/>
          </a:xfrm>
          <a:prstGeom prst="roundRect">
            <a:avLst>
              <a:gd name="adj" fmla="val 1237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011680" y="3868918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+ Reporting + Callback</a:t>
            </a:r>
            <a:endParaRPr lang="en-US" sz="730" dirty="0"/>
          </a:p>
        </p:txBody>
      </p:sp>
      <p:sp>
        <p:nvSpPr>
          <p:cNvPr id="75" name="Shape 73"/>
          <p:cNvSpPr/>
          <p:nvPr/>
        </p:nvSpPr>
        <p:spPr>
          <a:xfrm>
            <a:off x="6165669" y="3895004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011680" y="4031955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Priority Handling (Proxy)</a:t>
            </a:r>
            <a:endParaRPr lang="en-US" sz="730" dirty="0"/>
          </a:p>
        </p:txBody>
      </p:sp>
      <p:sp>
        <p:nvSpPr>
          <p:cNvPr id="77" name="Shape 75"/>
          <p:cNvSpPr/>
          <p:nvPr/>
        </p:nvSpPr>
        <p:spPr>
          <a:xfrm>
            <a:off x="6858000" y="4058041"/>
            <a:ext cx="692331" cy="110866"/>
          </a:xfrm>
          <a:prstGeom prst="roundRect">
            <a:avLst>
              <a:gd name="adj" fmla="val 1237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011680" y="4194993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5-Subflow Proxy Listener</a:t>
            </a:r>
            <a:endParaRPr lang="en-US" sz="730" dirty="0"/>
          </a:p>
        </p:txBody>
      </p:sp>
      <p:sp>
        <p:nvSpPr>
          <p:cNvPr id="79" name="Shape 77"/>
          <p:cNvSpPr/>
          <p:nvPr/>
        </p:nvSpPr>
        <p:spPr>
          <a:xfrm>
            <a:off x="7204166" y="4221079"/>
            <a:ext cx="1730829" cy="110866"/>
          </a:xfrm>
          <a:prstGeom prst="roundRect">
            <a:avLst>
              <a:gd name="adj" fmla="val 12372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011680" y="4358030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Per-Format Splitters &amp; Converters</a:t>
            </a:r>
            <a:endParaRPr lang="en-US" sz="730" dirty="0"/>
          </a:p>
        </p:txBody>
      </p:sp>
      <p:sp>
        <p:nvSpPr>
          <p:cNvPr id="81" name="Shape 79"/>
          <p:cNvSpPr/>
          <p:nvPr/>
        </p:nvSpPr>
        <p:spPr>
          <a:xfrm>
            <a:off x="8588829" y="4384116"/>
            <a:ext cx="1730829" cy="110866"/>
          </a:xfrm>
          <a:prstGeom prst="roundRect">
            <a:avLst>
              <a:gd name="adj" fmla="val 12372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011680" y="4521068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Folder/Schema Preservation</a:t>
            </a:r>
            <a:endParaRPr lang="en-US" sz="730" dirty="0"/>
          </a:p>
        </p:txBody>
      </p:sp>
      <p:sp>
        <p:nvSpPr>
          <p:cNvPr id="83" name="Shape 81"/>
          <p:cNvSpPr/>
          <p:nvPr/>
        </p:nvSpPr>
        <p:spPr>
          <a:xfrm>
            <a:off x="9281160" y="4547154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2011680" y="4684105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Benchmark (Linear/Tree)</a:t>
            </a:r>
            <a:endParaRPr lang="en-US" sz="730" dirty="0"/>
          </a:p>
        </p:txBody>
      </p:sp>
      <p:sp>
        <p:nvSpPr>
          <p:cNvPr id="85" name="Shape 83"/>
          <p:cNvSpPr/>
          <p:nvPr/>
        </p:nvSpPr>
        <p:spPr>
          <a:xfrm>
            <a:off x="9627326" y="4710191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2011680" y="4847143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(OTel)</a:t>
            </a:r>
            <a:endParaRPr lang="en-US" sz="730" dirty="0"/>
          </a:p>
        </p:txBody>
      </p:sp>
      <p:sp>
        <p:nvSpPr>
          <p:cNvPr id="87" name="Shape 85"/>
          <p:cNvSpPr/>
          <p:nvPr/>
        </p:nvSpPr>
        <p:spPr>
          <a:xfrm>
            <a:off x="10319657" y="4873229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365760" y="5010180"/>
            <a:ext cx="11338560" cy="978225"/>
          </a:xfrm>
          <a:prstGeom prst="rect">
            <a:avLst/>
          </a:prstGeom>
          <a:solidFill>
            <a:srgbClr val="F3F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384048" y="5010180"/>
            <a:ext cx="1600200" cy="97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2011680" y="5010180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Harness &amp; Fixtures</a:t>
            </a:r>
            <a:endParaRPr lang="en-US" sz="730" dirty="0"/>
          </a:p>
        </p:txBody>
      </p:sp>
      <p:sp>
        <p:nvSpPr>
          <p:cNvPr id="91" name="Shape 89"/>
          <p:cNvSpPr/>
          <p:nvPr/>
        </p:nvSpPr>
        <p:spPr>
          <a:xfrm>
            <a:off x="4781006" y="5036266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8A9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011680" y="5173218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Suite — M1 Happy Path</a:t>
            </a:r>
            <a:endParaRPr lang="en-US" sz="730" dirty="0"/>
          </a:p>
        </p:txBody>
      </p:sp>
      <p:sp>
        <p:nvSpPr>
          <p:cNvPr id="93" name="Shape 91"/>
          <p:cNvSpPr/>
          <p:nvPr/>
        </p:nvSpPr>
        <p:spPr>
          <a:xfrm>
            <a:off x="6511834" y="5199304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2011680" y="5336256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/ VIP Validation Suite</a:t>
            </a:r>
            <a:endParaRPr lang="en-US" sz="730" dirty="0"/>
          </a:p>
        </p:txBody>
      </p:sp>
      <p:sp>
        <p:nvSpPr>
          <p:cNvPr id="95" name="Shape 93"/>
          <p:cNvSpPr/>
          <p:nvPr/>
        </p:nvSpPr>
        <p:spPr>
          <a:xfrm>
            <a:off x="6858000" y="5362342"/>
            <a:ext cx="692331" cy="110866"/>
          </a:xfrm>
          <a:prstGeom prst="roundRect">
            <a:avLst>
              <a:gd name="adj" fmla="val 1237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2011680" y="5499293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/ Fault-Injection Suite</a:t>
            </a:r>
            <a:endParaRPr lang="en-US" sz="730" dirty="0"/>
          </a:p>
        </p:txBody>
      </p:sp>
      <p:sp>
        <p:nvSpPr>
          <p:cNvPr id="97" name="Shape 95"/>
          <p:cNvSpPr/>
          <p:nvPr/>
        </p:nvSpPr>
        <p:spPr>
          <a:xfrm>
            <a:off x="7204166" y="5525379"/>
            <a:ext cx="1730829" cy="110866"/>
          </a:xfrm>
          <a:prstGeom prst="roundRect">
            <a:avLst>
              <a:gd name="adj" fmla="val 12372"/>
            </a:avLst>
          </a:prstGeom>
          <a:solidFill>
            <a:srgbClr val="3B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2011680" y="5662331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Conversion/Splitting Regression</a:t>
            </a:r>
            <a:endParaRPr lang="en-US" sz="730" dirty="0"/>
          </a:p>
        </p:txBody>
      </p:sp>
      <p:sp>
        <p:nvSpPr>
          <p:cNvPr id="99" name="Shape 97"/>
          <p:cNvSpPr/>
          <p:nvPr/>
        </p:nvSpPr>
        <p:spPr>
          <a:xfrm>
            <a:off x="8588829" y="5688417"/>
            <a:ext cx="1730829" cy="110866"/>
          </a:xfrm>
          <a:prstGeom prst="roundRect">
            <a:avLst>
              <a:gd name="adj" fmla="val 12372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2011680" y="5825368"/>
            <a:ext cx="233172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Execution &amp; UAT Support</a:t>
            </a:r>
            <a:endParaRPr lang="en-US" sz="730" dirty="0"/>
          </a:p>
        </p:txBody>
      </p:sp>
      <p:sp>
        <p:nvSpPr>
          <p:cNvPr id="101" name="Shape 99"/>
          <p:cNvSpPr/>
          <p:nvPr/>
        </p:nvSpPr>
        <p:spPr>
          <a:xfrm>
            <a:off x="10665823" y="5851454"/>
            <a:ext cx="1038497" cy="110866"/>
          </a:xfrm>
          <a:prstGeom prst="roundRect">
            <a:avLst>
              <a:gd name="adj" fmla="val 12372"/>
            </a:avLst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365760" y="2401580"/>
            <a:ext cx="11338560" cy="0"/>
          </a:xfrm>
          <a:prstGeom prst="line">
            <a:avLst/>
          </a:prstGeom>
          <a:noFill/>
          <a:ln w="9525">
            <a:solidFill>
              <a:srgbClr val="C7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365760" y="3705880"/>
            <a:ext cx="11338560" cy="0"/>
          </a:xfrm>
          <a:prstGeom prst="line">
            <a:avLst/>
          </a:prstGeom>
          <a:noFill/>
          <a:ln w="9525">
            <a:solidFill>
              <a:srgbClr val="C7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65760" y="5010180"/>
            <a:ext cx="11338560" cy="0"/>
          </a:xfrm>
          <a:prstGeom prst="line">
            <a:avLst/>
          </a:prstGeom>
          <a:noFill/>
          <a:ln w="9525">
            <a:solidFill>
              <a:srgbClr val="C7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365760" y="5988406"/>
            <a:ext cx="11338560" cy="0"/>
          </a:xfrm>
          <a:prstGeom prst="line">
            <a:avLst/>
          </a:prstGeom>
          <a:noFill/>
          <a:ln w="9525">
            <a:solidFill>
              <a:srgbClr val="C7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965960" y="1097280"/>
            <a:ext cx="0" cy="4891126"/>
          </a:xfrm>
          <a:prstGeom prst="line">
            <a:avLst/>
          </a:prstGeom>
          <a:noFill/>
          <a:ln w="9525">
            <a:solidFill>
              <a:srgbClr val="C7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6511834" y="1097280"/>
            <a:ext cx="0" cy="4891126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588829" y="1097280"/>
            <a:ext cx="0" cy="4891126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5473337" y="1316736"/>
            <a:ext cx="0" cy="4671670"/>
          </a:xfrm>
          <a:prstGeom prst="line">
            <a:avLst/>
          </a:prstGeom>
          <a:noFill/>
          <a:ln w="12700">
            <a:solidFill>
              <a:srgbClr val="141B4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5384640" y="1097280"/>
            <a:ext cx="177394" cy="201168"/>
          </a:xfrm>
          <a:prstGeom prst="roundRect">
            <a:avLst>
              <a:gd name="adj" fmla="val 20619"/>
            </a:avLst>
          </a:prstGeom>
          <a:solidFill>
            <a:srgbClr val="8A9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5384640" y="1097280"/>
            <a:ext cx="177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7550331" y="1316736"/>
            <a:ext cx="0" cy="4671670"/>
          </a:xfrm>
          <a:prstGeom prst="line">
            <a:avLst/>
          </a:prstGeom>
          <a:noFill/>
          <a:ln w="12700">
            <a:solidFill>
              <a:srgbClr val="141B4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7231206" y="1097280"/>
            <a:ext cx="638251" cy="201168"/>
          </a:xfrm>
          <a:prstGeom prst="roundRect">
            <a:avLst>
              <a:gd name="adj" fmla="val 18182"/>
            </a:avLst>
          </a:prstGeom>
          <a:solidFill>
            <a:srgbClr val="E8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7231206" y="1097280"/>
            <a:ext cx="6382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✓ DEMO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9627326" y="1316736"/>
            <a:ext cx="0" cy="4671670"/>
          </a:xfrm>
          <a:prstGeom prst="line">
            <a:avLst/>
          </a:prstGeom>
          <a:noFill/>
          <a:ln w="12700">
            <a:solidFill>
              <a:srgbClr val="141B4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9538629" y="1097280"/>
            <a:ext cx="177394" cy="201168"/>
          </a:xfrm>
          <a:prstGeom prst="roundRect">
            <a:avLst>
              <a:gd name="adj" fmla="val 20619"/>
            </a:avLst>
          </a:prstGeom>
          <a:solidFill>
            <a:srgbClr val="3B6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9538629" y="1097280"/>
            <a:ext cx="177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10665823" y="1316736"/>
            <a:ext cx="0" cy="4671670"/>
          </a:xfrm>
          <a:prstGeom prst="line">
            <a:avLst/>
          </a:prstGeom>
          <a:noFill/>
          <a:ln w="12700">
            <a:solidFill>
              <a:srgbClr val="141B4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10577126" y="1097280"/>
            <a:ext cx="177394" cy="201168"/>
          </a:xfrm>
          <a:prstGeom prst="roundRect">
            <a:avLst>
              <a:gd name="adj" fmla="val 20619"/>
            </a:avLst>
          </a:prstGeom>
          <a:solidFill>
            <a:srgbClr val="6E5D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10577126" y="1097280"/>
            <a:ext cx="177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11704320" y="1316736"/>
            <a:ext cx="0" cy="4671670"/>
          </a:xfrm>
          <a:prstGeom prst="line">
            <a:avLst/>
          </a:prstGeom>
          <a:noFill/>
          <a:ln w="12700">
            <a:solidFill>
              <a:srgbClr val="141B4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11045952" y="1097280"/>
            <a:ext cx="704088" cy="201168"/>
          </a:xfrm>
          <a:prstGeom prst="roundRect">
            <a:avLst>
              <a:gd name="adj" fmla="val 18182"/>
            </a:avLst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11045952" y="1097280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GO-LIVE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4698710" y="1431153"/>
            <a:ext cx="155448" cy="155448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4698710" y="1431153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4698710" y="1268116"/>
            <a:ext cx="155448" cy="155448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4698710" y="126811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5391041" y="1594191"/>
            <a:ext cx="155448" cy="155448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5391041" y="1594191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7121870" y="4202791"/>
            <a:ext cx="155448" cy="155448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7121870" y="4202791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8506533" y="2083303"/>
            <a:ext cx="155448" cy="155448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8506533" y="2083303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365760" y="607984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Postgres schema baseline gates the Reliability Core claim library and later heartbeat/sweeper work (Backend A)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RabbitMQ topology gates the Outbox Relay and Proxy Listener work (Backend A/B)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OpenTelemetry skeleton gates all later per-service instrumentation, through M4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6217920" y="6079846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Full Proxy Listener depends on Sweeper/Outbox hardening delivered in M2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Per-format autoscaling depends on the per-format microservice split completing in M3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— Development Plan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11274552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slow this down, and how we'll handle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094476" y="1371600"/>
            <a:ext cx="15784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810073" y="1371600"/>
            <a:ext cx="39216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755648"/>
            <a:ext cx="53629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6495" y="19888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11274552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11274552" cy="758952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26495" y="27477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1777239"/>
            <a:ext cx="11274552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1777239"/>
            <a:ext cx="11274552" cy="7589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1777239"/>
            <a:ext cx="53629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Learning Curve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26495" y="2010411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2A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26495" y="2010411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10073" y="1777239"/>
            <a:ext cx="378451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learning and adoption is done in parallel with the “traditional” way of work.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2536191"/>
            <a:ext cx="11274552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2536191"/>
            <a:ext cx="11274552" cy="758952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2536191"/>
            <a:ext cx="53629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Heavy-format contention if the per-format microservice split slips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26495" y="2769363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2A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26495" y="2769363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10073" y="2536191"/>
            <a:ext cx="378451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per-format split as the first task of Milestone 3, not the last.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295143"/>
            <a:ext cx="11274552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3295143"/>
            <a:ext cx="11274552" cy="7589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3295143"/>
            <a:ext cx="53629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Client-provided inputs (SLA, timeout) arrive late and block M3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26495" y="3528315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2A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26495" y="3528315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810073" y="3295143"/>
            <a:ext cx="378451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formally at kickoff with a named owner and due date; use documented defaults if missed.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054095"/>
            <a:ext cx="11274552" cy="0"/>
          </a:xfrm>
          <a:prstGeom prst="line">
            <a:avLst/>
          </a:prstGeom>
          <a:noFill/>
          <a:ln w="9525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— Development Plan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1583</Words>
  <Application>Microsoft Office PowerPoint</Application>
  <PresentationFormat>Widescreen</PresentationFormat>
  <Paragraphs>251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Ilona Koren</cp:lastModifiedBy>
  <cp:revision>96</cp:revision>
  <dcterms:created xsi:type="dcterms:W3CDTF">2026-07-16T11:05:49Z</dcterms:created>
  <dcterms:modified xsi:type="dcterms:W3CDTF">2026-07-20T09:45:25Z</dcterms:modified>
</cp:coreProperties>
</file>